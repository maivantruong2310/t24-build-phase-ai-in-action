
<file path=[Content_Types].xml><?xml version="1.0" encoding="utf-8"?>
<Types xmlns="http://schemas.openxmlformats.org/package/2006/content-types">
  <Default Extension="fntdata" ContentType="application/x-fontdata"/>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2000" cy="6858000" type="screen4x3"/>
  <p:notesSz cx="6858000" cy="9144000"/>
  <p:embeddedFontLst>
    <p:embeddedFont>
      <p:font typeface="FC Baby Doll"/>
      <p:regular r:id="rIdFont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Font1"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Chào ban giám khảo, chúng tôi là Team P-124, AI20K Build Phase Cohort 4, với VCare+ (mã dự án VMEC-01). VCare+ là trợ lý AI tiếp đón y tế: phân tầng cấp cứu theo thang ATS, gợi ý chuyên khoa, tra bác sĩ và cơ sở, rồi tạo yêu cầu đặt lịch. Agent không chẩn đoán, không kê đơn; điều phối viên là người duyệt cuối cùng.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Đặt lịch khám vẫn là chuỗi việc khó. Ba con số, mỗi con số một ý.</a:t>
            </a:r>
          </a:p>
          <a:p/>
          <a:p>
            <a:r>
              <a:t>1) 19 phút: thời gian chờ khám trung bình của 303 bệnh nhân ngoại trú tại Bệnh viện Quân y 103 (tháng 4 đến tháng 9/2024), độ lệch chuẩn 14,7 phút. Chờ lấy mẫu trung bình 16,5 phút; chờ kết quả xét nghiệm huyết học 55,3 phút, sinh hóa 98 phút. Nguồn: Tạp chí Y học Cộng đồng, tập 67, số 2, DOI 10.52163/yhc.v67i2.4385. Lưu ý khi nói: đây là số của một bệnh viện, không đại diện toàn quốc.</a:t>
            </a:r>
          </a:p>
          <a:p/>
          <a:p>
            <a:r>
              <a:t>2) 13,7%: tỷ lệ bệnh nhân đăng ký trực tuyến tại Bệnh viện Mắt TP.HCM, theo số liệu bệnh viện trích trong Tuổi Trẻ ngày 15/05/2025. Cùng bài, Bệnh viện Nhân dân 115 khoảng 20%. Ý nghĩa: phần lớn bệnh nhân vẫn đến trực tiếp hoặc gọi điện, đúng chỗ VCare+ muốn giảm tải.</a:t>
            </a:r>
          </a:p>
          <a:p/>
          <a:p>
            <a:r>
              <a:t>3) Bỏ sót ca cấp cứu: đây là rủi ro an toàn, không phải số liệu thống kê nên slide không đưa con số. 115 là số cấp cứu quốc gia, cũng là nút luôn hiện trong app. Khi người dùng mô tả dấu hiệu như đau ngực, khó thở, agent không tiếp tục đặt lịch mà cảnh báo đi viện ngay hoặc gọi 115.</a:t>
            </a:r>
          </a:p>
          <a:p/>
          <a:p>
            <a:r>
              <a:t>Có thể nói thêm, nhưng không có số liệu kiểm chứng nên không đưa lên slide: bệnh nhân khó tự biết khám khoa nào; tổng đài dễ quá tải. Không dùng cụm "mất 10 đến 30 phút chờ đợi" vì chưa có nguồn.</a:t>
            </a:r>
          </a:p>
          <a:p/>
          <a:p>
            <a:r>
              <a:t>Ràng buộc thiết kế: agent chỉ định hướng, không chẩn đoán, không kê đơn.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Bệnh nhân chỉ cần trò chuyện: agent hỏi triệu chứng (mỗi lượt tối đa một câu ngắn), gợi ý khoa, tìm bác sĩ, bệnh nhân xác nhận, rồi điều phối viên duyệt và nhắc lịch; ca ATS 1–2 bị ngắt ngay và hướng dẫn gọi 115. Bước màu đỏ là điểm mấu chốt: trong môi trường thử nghiệm có 104 hồ sơ điều phối (đếm trong Supabase ngày 12/10/2026, 0 liên kết tới lịch hẹn chính thức), chưa có lịch hẹn chính thức nào được chốt tự động (nguồn: cơ sở dữ liệu Supabase của dự án). Ba nhóm hưởng lợi: bệnh nhân, điều phối viên và bệnh viện.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kịch bản chạy trên sản phẩm thật. Một: "tức ngực khó thở vã mồ hôi" được cổng an toàn đánh dấu ATS 2, nghi hội chứng mạch vành cấp, ngắt hội thoại và hướng dẫn gọi 115. Hai: đau khớp gối, hỏi cơ sở gần Long Biên, agent gợi ý Chấn thương chỉnh hình tại Vinmec Riverside và chỉ hỏi thêm một câu. Ba: đăng ký khám qua chat tạo một yêu cầu, chờ điều phối viên xác nhận.)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Mọi tin nhắn đi qua tầng an toàn trước khi chạm tới LLM: chặn tấn công prompt, phát hiện cấp cứu bằng luật, và che thông tin cá nhân bằng Presidio; ca cấp cứu và ca tấn công tiêu tốn 0 token LLM. Sau đó LangGraph chạy bốn bước phân tích, tìm bác sĩ, trả lời và phản biện, dựa trên Hybrid RAG ChromaDB cộng SQLite FTS5. LLM đang chạy thực tế là DeepSeek (deepseek-chat), có OpenRouter, Gemini, OpenAI làm dự phòng.</a:t>
            </a:r>
          </a:p>
          <a:p/>
          <a:p>
            <a:r>
              <a:t>Chi tiết kiến trúc, nói khi được hỏi: giao diện gồm chat bệnh nhân, hàng đợi điều phối viên, màn hình cấp cứu cho nhân viên và Zalo Bot. API là FastAPI, REST kèm SSE, đăng nhập bằng Supabase Auth và phân quyền theo vai trò. Dữ liệu nằm ở PostgreSQL/Supabase (bác sĩ, cơ sở, lịch, yêu cầu). Số liệu 992, 36, 131 lấy từ trang dữ liệu, đếm trực tiếp.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con số này đếm trực tiếp trong cơ sở dữ liệu Supabase của dự án: 992 hồ sơ bác sĩ, 36 cơ sở, 131 chuyên khoa, 741 bệnh có phân tầng ATS và 5.993 đoạn tài liệu cho RAG (ngoài ra có 206 dịch vụ).</a:t>
            </a:r>
          </a:p>
          <a:p/>
          <a:p>
            <a:r>
              <a:t>Điểm nên nhấn: 741 bệnh có phân tầng ATS. Mỗi bệnh gắn với một mức khẩn cấp, nên hệ thống biết ca nào phải đi viện ngay trước khi nghĩ tới chuyện đặt lịch.</a:t>
            </a:r>
          </a:p>
          <a:p/>
          <a:p>
            <a:r>
              <a:t>Nguồn: trang công khai của Vinmec, nơi robots.txt cho phép thu thập, và bộ bệnh DDXPlus của Mila/NeurIPS đã Việt hóa. Đây là prototype học thuật, không phải sản phẩm chính thức của Vinmec. Lịch bác sĩ trong demo nên gọi là lịch mô phỏng nếu chưa xác nhận được nguồn.</a:t>
            </a:r>
          </a:p>
          <a:p/>
          <a:p>
            <a:r>
              <a:t>Công nghệ, nói khi được hỏi. AI: LangGraph, ChromaDB cộng SQLite FTS5, DeepSeek và 3 LLM dự phòng. Backend: Python 3.11, FastAPI, SQLAlchemy, Alembic, PostgreSQL/Supabase. Frontend: React 19, TypeScript, Vite, Tailwind CSS v4, Redux Toolkit, PWA. Vận hành: Vercel, Railway, GitHub Actions, LangSmith; Grafana/Loki/Tempo mới cấu hình sẵn.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trước: đây là số đo trung thực, kể cả phần chưa đẹp.</a:t>
            </a:r>
          </a:p>
          <a:p/>
          <a:p>
            <a:r>
              <a:t>1) 93,3%: trên bộ ETEK test khóa chạy một lần (30 ca cấp cứu trong 81 ca, code lúc 02:11 ngày 10/10), hệ thống bắt 28/30, KTC 95% 78,7 đến 98,2 (ATS 1: 10/10, ATS 2: 18/20). Bộ ETEK gồm tình huống của Bộ Y tế Úc, nhãn ATS do chuyên gia gán; bản tiếng Việt do AI dịch nên có thể ảnh hưởng kết quả. Dưới 100 ca chính thức nên chỉ mang tính tham khảo.</a:t>
            </a:r>
          </a:p>
          <a:p/>
          <a:p>
            <a:r>
              <a:t>2) 100%: luật lâm sàng cứng trên 131 ca (dev, ETEK dev và ca tấn công): cấp cứu có hướng dẫn gọi 115 (44/44), không chẩn đoán xác định (131/131), không kê đơn hay liều thuốc (131/131), tối đa một câu hỏi mỗi lượt (131/131), cấp cứu không mời đặt lịch (44/44). Thêm dấu hiệu nguy kịch vào câu mà không lên cấp cứu: 0/111 ca (kiểm tra metamorphic). Nguồn: eval/conversation_bench/RESULTS.md, đo ngày 13 đến 14/10/2026.</a:t>
            </a:r>
          </a:p>
          <a:p/>
          <a:p>
            <a:r>
              <a:t>3) 2/30: hai ca bỏ sót là loạn thần do ma túy đá kèm hành vi hung hăng, và nạn nhân bị cưỡng hiếp, hành hung đang kích động. Nhóm yếu nhất là sức khỏe tâm thần, kích động và chấn thương.</a:t>
            </a:r>
          </a:p>
          <a:p/>
          <a:p>
            <a:r>
              <a:t>Chi tiết nếu bị hỏi sâu: xếp thấp hơn thực tế 8,6%, xếp cao hơn 18,5%, ATS 5 đúng 0/6 vì hệ thống hay xếp lên ATS 4. Trên ETEK dev, bắt cấp cứu 9/10 ở lần đo ngày 10/10; lần offline mới nhất là 10/10, báo cấp cứu thừa 4/19. Bộ tự soạn 15/15 nhưng nhãn do AI soạn, chưa có chuyên gia duyệt. Ý định tự sát được xếp cấp cứu dù nhãn ETEK là ATS 3, nên κ của ETEK dev giảm có chủ đích. Các bộ đo ở những mốc code khác nhau nên không so sánh trực tiếp với nhau.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Số liệu từ eval/conversation_bench/RESULTS.md, đo ngày 13 đến 14/10/2026 trên 1.039 ca chạy LLM thật (DeepSeek qua OpenRouter). Các ca được chọn có kỳ vọng chuyên khoa và chuyển người thật, cùng biến thể gõ của chúng, nên không phải mẫu ngẫu nhiên của người dùng thật.</a:t>
            </a:r>
          </a:p>
          <a:p/>
          <a:p>
            <a:r>
              <a:t>Điểm nhấn: bắt ca cấp cứu 98,8%; trượt kỳ vọng nghiêm trọng 0,1%; luật lâm sàng 98,9%; trạng thái luồng 94,0%; nội dung trả lời 97,6%. Độ trễ p50 2,9 giây, p95 4,9 giây, p99 7,2 giây. Tổng 2.191 lời gọi LLM, 0,73 USD cho toàn bộ lượt chạy, tức 0,70 USD cho 1.000 hội thoại. Ca cấp cứu rõ ràng đi qua cổng zero-token nên chỉ khoảng 7 ms và không tốn token.</a:t>
            </a:r>
          </a:p>
          <a:p/>
          <a:p>
            <a:r>
              <a:t>Giới hạn đã biết, nên nói thẳng: đúng chuyên khoa 63,1% khi chạy thật; gõ không dấu chỉ 45,8%, chen từ đệm 42,4%; mức ATS 72,0%. Lỗi hay gặp là rơi về Sức khỏe tổng quát dù triệu chứng rõ (xương khớp, hô hấp, mắt, nhi, sản phụ khoa). Khi bật LLM có 27 lượt hỏi hơn một câu và 14/2.130 lượt trả lời bằng tiếng Anh. Kết quả offline (LLM tắt) thấp hơn thực tế ở mọi phần phụ thuộc LLM.</a:t>
            </a:r>
          </a:p>
          <a:p/>
          <a:p>
            <a:r>
              <a:t>Số đo cũ: kiểm thử đầu-cuối 10 câu ngày 07/10 với DeepSeek cho bám dữ liệu 100%, không bịa thông tin trên 10 câu, gọi đúng công cụ 80% (mục tiêu 85%), p50 9,3 giây. Mười câu chưa đủ ý nghĩa thống kê nên không đưa lên slide. DDXPlus 150 ca ngày 30/09: đúng khoa 70,7%, bắt cấp cứu ATS 1 đến 2 là 46/47; đây là dữ liệu tổng hợp công khai, khác phân bố thực tế.</a:t>
            </a:r>
          </a:p>
          <a:p/>
          <a:p>
            <a:r>
              <a:t>Việc đang làm tiếp: chuyên khoa khi gõ không dấu, co giật cục bộ đang bị báo cấp cứu nhầm, luật dấu hiệu màng não.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đi tiếp, chúng tôi cần hai điều: bác sĩ gán nhãn và đánh giá lâm sàng để mở rộng bộ test lên ít nhất 300 ca, và dữ liệu lịch thật của một cơ sở để thử nghiệm. Xin nhắc lại: đây là prototype học thuật dùng dữ liệu công khai của Vinmec, không phải sản phẩm chính thức của Vinmec. Mời mọi người quét mã QR để trải nghiệm, và cảm ơn ban giám khảo đã lắng nghe!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4-app-t124.vercel.app/" TargetMode="Externa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hyperlink" Target="https://c4-app-t124.vercel.app/" TargetMode="External"/><Relationship Id="rId5" Type="http://schemas.openxmlformats.org/officeDocument/2006/relationships/hyperlink" Target="https://github.com/AI20K-Build-Phase-Cohort-4/P-124" TargetMode="External"/><Relationship Id="rId6"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CF9"/>
        </a:solidFill>
        <a:effectLst/>
      </p:bgPr>
    </p:bg>
    <p:spTree>
      <p:nvGrpSpPr>
        <p:cNvPr id="1" name=""/>
        <p:cNvGrpSpPr/>
        <p:nvPr/>
      </p:nvGrpSpPr>
      <p:grpSpPr/>
      <p:sp>
        <p:nvSpPr>
          <p:cNvPr id="2" name="Rounded Rectangle 1"/>
          <p:cNvSpPr/>
          <p:nvPr/>
        </p:nvSpPr>
        <p:spPr>
          <a:xfrm>
            <a:off x="731520" y="914400"/>
            <a:ext cx="3931920" cy="384048"/>
          </a:xfrm>
          <a:prstGeom prst="roundRect">
            <a:avLst>
              <a:gd name="adj" fmla="val 50000"/>
            </a:avLst>
          </a:prstGeom>
          <a:solidFill>
            <a:srgbClr val="FFFFFF"/>
          </a:solidFill>
          <a:ln w="28575">
            <a:solidFill>
              <a:srgbClr val="BD5F5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914400"/>
            <a:ext cx="3931920" cy="384048"/>
          </a:xfrm>
          <a:prstGeom prst="rect">
            <a:avLst/>
          </a:prstGeom>
          <a:noFill/>
        </p:spPr>
        <p:txBody>
          <a:bodyPr wrap="square" lIns="0" rIns="0" tIns="0" bIns="0" anchor="ctr">
            <a:spAutoFit/>
          </a:bodyPr>
          <a:lstStyle/>
          <a:p>
            <a:pPr algn="ctr"/>
            <a:r>
              <a:rPr sz="1600" b="0" i="0">
                <a:solidFill>
                  <a:srgbClr val="285C45"/>
                </a:solidFill>
                <a:latin typeface="FC Baby Doll"/>
              </a:rPr>
              <a:t>VMEC-01 · AI20K · TEAM P-124</a:t>
            </a:r>
          </a:p>
        </p:txBody>
      </p:sp>
      <p:sp>
        <p:nvSpPr>
          <p:cNvPr id="4" name="TextBox 3"/>
          <p:cNvSpPr txBox="1"/>
          <p:nvPr/>
        </p:nvSpPr>
        <p:spPr>
          <a:xfrm>
            <a:off x="786384" y="1371600"/>
            <a:ext cx="6400800" cy="1920240"/>
          </a:xfrm>
          <a:prstGeom prst="rect">
            <a:avLst/>
          </a:prstGeom>
          <a:noFill/>
        </p:spPr>
        <p:txBody>
          <a:bodyPr wrap="square" lIns="0" rIns="0" tIns="0" bIns="0" anchor="t">
            <a:spAutoFit/>
          </a:bodyPr>
          <a:lstStyle/>
          <a:p>
            <a:pPr algn="l"/>
            <a:r>
              <a:rPr sz="13800" b="0" i="0">
                <a:solidFill>
                  <a:srgbClr val="1F2D26"/>
                </a:solidFill>
                <a:latin typeface="FC Baby Doll"/>
              </a:rPr>
              <a:t>VCare+</a:t>
            </a:r>
          </a:p>
        </p:txBody>
      </p:sp>
      <p:sp>
        <p:nvSpPr>
          <p:cNvPr id="5" name="TextBox 4"/>
          <p:cNvSpPr txBox="1"/>
          <p:nvPr/>
        </p:nvSpPr>
        <p:spPr>
          <a:xfrm>
            <a:off x="731520" y="1325880"/>
            <a:ext cx="6400800" cy="1920240"/>
          </a:xfrm>
          <a:prstGeom prst="rect">
            <a:avLst/>
          </a:prstGeom>
          <a:noFill/>
        </p:spPr>
        <p:txBody>
          <a:bodyPr wrap="square" lIns="0" rIns="0" tIns="0" bIns="0" anchor="t">
            <a:spAutoFit/>
          </a:bodyPr>
          <a:lstStyle/>
          <a:p>
            <a:pPr algn="l"/>
            <a:r>
              <a:rPr sz="13800" b="0" i="0">
                <a:solidFill>
                  <a:srgbClr val="285C45"/>
                </a:solidFill>
                <a:latin typeface="FC Baby Doll"/>
              </a:rPr>
              <a:t>VCare+</a:t>
            </a:r>
          </a:p>
        </p:txBody>
      </p:sp>
      <p:sp>
        <p:nvSpPr>
          <p:cNvPr id="6" name="TextBox 5"/>
          <p:cNvSpPr txBox="1"/>
          <p:nvPr/>
        </p:nvSpPr>
        <p:spPr>
          <a:xfrm>
            <a:off x="731520" y="3246120"/>
            <a:ext cx="6400800" cy="411480"/>
          </a:xfrm>
          <a:prstGeom prst="rect">
            <a:avLst/>
          </a:prstGeom>
          <a:noFill/>
        </p:spPr>
        <p:txBody>
          <a:bodyPr wrap="square" lIns="0" rIns="0" tIns="0" bIns="0" anchor="t">
            <a:spAutoFit/>
          </a:bodyPr>
          <a:lstStyle/>
          <a:p>
            <a:pPr algn="l"/>
            <a:r>
              <a:rPr sz="2000" b="0" i="0">
                <a:solidFill>
                  <a:srgbClr val="BD5F57"/>
                </a:solidFill>
                <a:latin typeface="FC Baby Doll"/>
              </a:rPr>
              <a:t>Hệ Thống Khám Bệnh Đa Tầng Bác Sĩ Giám Sát</a:t>
            </a:r>
          </a:p>
        </p:txBody>
      </p:sp>
      <p:sp>
        <p:nvSpPr>
          <p:cNvPr id="7" name="TextBox 6"/>
          <p:cNvSpPr txBox="1"/>
          <p:nvPr/>
        </p:nvSpPr>
        <p:spPr>
          <a:xfrm>
            <a:off x="731520" y="3794760"/>
            <a:ext cx="6035040" cy="1188720"/>
          </a:xfrm>
          <a:prstGeom prst="rect">
            <a:avLst/>
          </a:prstGeom>
          <a:noFill/>
        </p:spPr>
        <p:txBody>
          <a:bodyPr wrap="square" lIns="0" rIns="0" tIns="0" bIns="0" anchor="t">
            <a:spAutoFit/>
          </a:bodyPr>
          <a:lstStyle/>
          <a:p>
            <a:pPr algn="l">
              <a:lnSpc>
                <a:spcPct val="115000"/>
              </a:lnSpc>
            </a:pPr>
            <a:r>
              <a:rPr sz="2200" b="0" i="0">
                <a:solidFill>
                  <a:srgbClr val="1F2D26"/>
                </a:solidFill>
                <a:latin typeface="Segoe UI"/>
              </a:rPr>
              <a:t>Trợ lý AI tiếp đón y tế: phân tầng cấp cứu, gợi ý chuyên khoa, tạo yêu cầu đặt lịch. Con người luôn duyệt.</a:t>
            </a:r>
          </a:p>
        </p:txBody>
      </p:sp>
      <p:sp>
        <p:nvSpPr>
          <p:cNvPr id="8" name="Rounded Rectangle 7"/>
          <p:cNvSpPr/>
          <p:nvPr/>
        </p:nvSpPr>
        <p:spPr>
          <a:xfrm>
            <a:off x="768096" y="5116982"/>
            <a:ext cx="4206240" cy="502920"/>
          </a:xfrm>
          <a:prstGeom prst="roundRect">
            <a:avLst>
              <a:gd name="adj" fmla="val 49090"/>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5074920"/>
            <a:ext cx="4206240" cy="502920"/>
          </a:xfrm>
          <a:prstGeom prst="roundRect">
            <a:avLst>
              <a:gd name="adj" fmla="val 49090"/>
            </a:avLst>
          </a:prstGeom>
          <a:solidFill>
            <a:srgbClr val="FFFFFF"/>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r:id="rId2"/>
          </p:cNvPr>
          <p:cNvSpPr txBox="1"/>
          <p:nvPr/>
        </p:nvSpPr>
        <p:spPr>
          <a:xfrm>
            <a:off x="960120" y="5074920"/>
            <a:ext cx="5486400" cy="502920"/>
          </a:xfrm>
          <a:prstGeom prst="rect">
            <a:avLst/>
          </a:prstGeom>
          <a:noFill/>
        </p:spPr>
        <p:txBody>
          <a:bodyPr wrap="square" lIns="0" rIns="0" tIns="0" bIns="0" anchor="ctr">
            <a:spAutoFit/>
          </a:bodyPr>
          <a:lstStyle/>
          <a:p>
            <a:pPr algn="l"/>
            <a:r>
              <a:rPr sz="1600" b="1" i="0">
                <a:solidFill>
                  <a:srgbClr val="285C45"/>
                </a:solidFill>
                <a:latin typeface="Segoe UI"/>
              </a:rPr>
              <a:t>c4-app-t124.vercel.app</a:t>
            </a:r>
          </a:p>
        </p:txBody>
      </p:sp>
      <p:sp>
        <p:nvSpPr>
          <p:cNvPr id="11" name="Rounded Rectangle 10"/>
          <p:cNvSpPr/>
          <p:nvPr/>
        </p:nvSpPr>
        <p:spPr>
          <a:xfrm>
            <a:off x="7516367" y="1132027"/>
            <a:ext cx="3931920" cy="4480560"/>
          </a:xfrm>
          <a:prstGeom prst="roundRect">
            <a:avLst>
              <a:gd name="adj" fmla="val 6976"/>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406640" y="1005840"/>
            <a:ext cx="3931920" cy="4480560"/>
          </a:xfrm>
          <a:prstGeom prst="roundRect">
            <a:avLst>
              <a:gd name="adj" fmla="val 6976"/>
            </a:avLst>
          </a:prstGeom>
          <a:solidFill>
            <a:srgbClr val="FFFFFF"/>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1_Image2.png"/>
          <p:cNvPicPr>
            <a:picLocks noChangeAspect="1"/>
          </p:cNvPicPr>
          <p:nvPr/>
        </p:nvPicPr>
        <p:blipFill>
          <a:blip r:embed="rId3"/>
          <a:stretch>
            <a:fillRect/>
          </a:stretch>
        </p:blipFill>
        <p:spPr>
          <a:xfrm>
            <a:off x="7635240" y="1325880"/>
            <a:ext cx="3474720" cy="3468402"/>
          </a:xfrm>
          <a:prstGeom prst="rect">
            <a:avLst/>
          </a:prstGeom>
        </p:spPr>
      </p:pic>
      <p:cxnSp>
        <p:nvCxnSpPr>
          <p:cNvPr id="14" name="Connector 13"/>
          <p:cNvCxnSpPr/>
          <p:nvPr/>
        </p:nvCxnSpPr>
        <p:spPr>
          <a:xfrm>
            <a:off x="7635240" y="914400"/>
            <a:ext cx="3474720" cy="0"/>
          </a:xfrm>
          <a:prstGeom prst="line">
            <a:avLst/>
          </a:prstGeom>
          <a:ln w="22225">
            <a:solidFill>
              <a:srgbClr val="BD5F57"/>
            </a:solidFill>
            <a:prstDash val="dash"/>
          </a:ln>
        </p:spPr>
        <p:style>
          <a:lnRef idx="2">
            <a:schemeClr val="accent1"/>
          </a:lnRef>
          <a:fillRef idx="0">
            <a:schemeClr val="accent1"/>
          </a:fillRef>
          <a:effectRef idx="1">
            <a:schemeClr val="accent1"/>
          </a:effectRef>
          <a:fontRef idx="minor">
            <a:schemeClr val="tx1"/>
          </a:fontRef>
        </p:style>
      </p:cxnSp>
      <p:pic>
        <p:nvPicPr>
          <p:cNvPr id="15" name="Picture 14" descr="cross_dark.png"/>
          <p:cNvPicPr>
            <a:picLocks noChangeAspect="1"/>
          </p:cNvPicPr>
          <p:nvPr/>
        </p:nvPicPr>
        <p:blipFill>
          <a:blip r:embed="rId4"/>
          <a:stretch>
            <a:fillRect/>
          </a:stretch>
        </p:blipFill>
        <p:spPr>
          <a:xfrm>
            <a:off x="10515600" y="5349240"/>
            <a:ext cx="1097280" cy="10972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CF9"/>
        </a:solidFill>
        <a:effectLst/>
      </p:bgPr>
    </p:bg>
    <p:spTree>
      <p:nvGrpSpPr>
        <p:cNvPr id="1" name=""/>
        <p:cNvGrpSpPr/>
        <p:nvPr/>
      </p:nvGrpSpPr>
      <p:grpSpPr/>
      <p:sp>
        <p:nvSpPr>
          <p:cNvPr id="2" name="Rounded Rectangle 1"/>
          <p:cNvSpPr/>
          <p:nvPr/>
        </p:nvSpPr>
        <p:spPr>
          <a:xfrm>
            <a:off x="566928" y="384048"/>
            <a:ext cx="1463040" cy="347472"/>
          </a:xfrm>
          <a:prstGeom prst="roundRect">
            <a:avLst>
              <a:gd name="adj" fmla="val 50000"/>
            </a:avLst>
          </a:prstGeom>
          <a:solidFill>
            <a:srgbClr val="FFFFFF"/>
          </a:solidFill>
          <a:ln w="28575">
            <a:solidFill>
              <a:srgbClr val="BD5F5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463040" cy="347472"/>
          </a:xfrm>
          <a:prstGeom prst="rect">
            <a:avLst/>
          </a:prstGeom>
          <a:noFill/>
        </p:spPr>
        <p:txBody>
          <a:bodyPr wrap="square" lIns="0" rIns="0" tIns="0" bIns="0" anchor="ctr">
            <a:spAutoFit/>
          </a:bodyPr>
          <a:lstStyle/>
          <a:p>
            <a:pPr algn="ctr"/>
            <a:r>
              <a:rPr sz="1400" b="0" i="0">
                <a:solidFill>
                  <a:srgbClr val="285C45"/>
                </a:solidFill>
                <a:latin typeface="FC Baby Doll"/>
              </a:rPr>
              <a:t>VẤN ĐỀ</a:t>
            </a:r>
          </a:p>
        </p:txBody>
      </p:sp>
      <p:sp>
        <p:nvSpPr>
          <p:cNvPr id="4" name="TextBox 3"/>
          <p:cNvSpPr txBox="1"/>
          <p:nvPr/>
        </p:nvSpPr>
        <p:spPr>
          <a:xfrm>
            <a:off x="566928" y="841248"/>
            <a:ext cx="10241280" cy="731520"/>
          </a:xfrm>
          <a:prstGeom prst="rect">
            <a:avLst/>
          </a:prstGeom>
          <a:noFill/>
        </p:spPr>
        <p:txBody>
          <a:bodyPr wrap="square" lIns="0" rIns="0" tIns="0" bIns="0" anchor="t">
            <a:spAutoFit/>
          </a:bodyPr>
          <a:lstStyle/>
          <a:p>
            <a:pPr algn="l"/>
            <a:r>
              <a:rPr sz="3800" b="0" i="0">
                <a:solidFill>
                  <a:srgbClr val="285C45"/>
                </a:solidFill>
                <a:latin typeface="FC Baby Doll"/>
              </a:rPr>
              <a:t>Đặt lịch khám vẫn khó với bệnh nhân</a:t>
            </a:r>
          </a:p>
        </p:txBody>
      </p:sp>
      <p:sp>
        <p:nvSpPr>
          <p:cNvPr id="5" name="Rounded Rectangle 4"/>
          <p:cNvSpPr/>
          <p:nvPr/>
        </p:nvSpPr>
        <p:spPr>
          <a:xfrm>
            <a:off x="640080" y="1867204"/>
            <a:ext cx="3520440" cy="3063240"/>
          </a:xfrm>
          <a:prstGeom prst="roundRect">
            <a:avLst>
              <a:gd name="adj" fmla="val 6567"/>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783080"/>
            <a:ext cx="3520440" cy="3063240"/>
          </a:xfrm>
          <a:prstGeom prst="roundRect">
            <a:avLst>
              <a:gd name="adj" fmla="val 6567"/>
            </a:avLst>
          </a:prstGeom>
          <a:solidFill>
            <a:srgbClr val="FFFFFF"/>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2926080" cy="1188720"/>
          </a:xfrm>
          <a:prstGeom prst="rect">
            <a:avLst/>
          </a:prstGeom>
          <a:noFill/>
        </p:spPr>
        <p:txBody>
          <a:bodyPr wrap="square" lIns="0" rIns="0" tIns="0" bIns="0" anchor="ctr">
            <a:spAutoFit/>
          </a:bodyPr>
          <a:lstStyle/>
          <a:p>
            <a:pPr algn="l"/>
            <a:r>
              <a:rPr sz="6000" b="0" i="0">
                <a:solidFill>
                  <a:srgbClr val="285C45"/>
                </a:solidFill>
                <a:latin typeface="FC Baby Doll"/>
              </a:rPr>
              <a:t>19 phút</a:t>
            </a:r>
          </a:p>
        </p:txBody>
      </p:sp>
      <p:sp>
        <p:nvSpPr>
          <p:cNvPr id="8" name="Rounded Rectangle 7"/>
          <p:cNvSpPr/>
          <p:nvPr/>
        </p:nvSpPr>
        <p:spPr>
          <a:xfrm>
            <a:off x="886968" y="3401568"/>
            <a:ext cx="1005840" cy="54864"/>
          </a:xfrm>
          <a:prstGeom prst="roundRect">
            <a:avLst>
              <a:gd name="adj" fmla="val 50000"/>
            </a:avLst>
          </a:prstGeom>
          <a:solidFill>
            <a:srgbClr val="BD5F57"/>
          </a:solidFill>
          <a:ln w="28575">
            <a:solidFill>
              <a:srgbClr val="BD5F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3611880"/>
            <a:ext cx="2926080" cy="731520"/>
          </a:xfrm>
          <a:prstGeom prst="rect">
            <a:avLst/>
          </a:prstGeom>
          <a:noFill/>
        </p:spPr>
        <p:txBody>
          <a:bodyPr wrap="square" lIns="0" rIns="0" tIns="0" bIns="0" anchor="t">
            <a:spAutoFit/>
          </a:bodyPr>
          <a:lstStyle/>
          <a:p>
            <a:pPr algn="l">
              <a:lnSpc>
                <a:spcPct val="100000"/>
              </a:lnSpc>
            </a:pPr>
            <a:r>
              <a:rPr sz="2200" b="0" i="0">
                <a:solidFill>
                  <a:srgbClr val="1F2D26"/>
                </a:solidFill>
                <a:latin typeface="FC Baby Doll"/>
              </a:rPr>
              <a:t>chờ khám trung bình</a:t>
            </a:r>
          </a:p>
        </p:txBody>
      </p:sp>
      <p:sp>
        <p:nvSpPr>
          <p:cNvPr id="10" name="TextBox 9"/>
          <p:cNvSpPr txBox="1"/>
          <p:nvPr/>
        </p:nvSpPr>
        <p:spPr>
          <a:xfrm>
            <a:off x="886968" y="4297680"/>
            <a:ext cx="2926080" cy="457200"/>
          </a:xfrm>
          <a:prstGeom prst="rect">
            <a:avLst/>
          </a:prstGeom>
          <a:noFill/>
        </p:spPr>
        <p:txBody>
          <a:bodyPr wrap="square" lIns="0" rIns="0" tIns="0" bIns="0" anchor="t">
            <a:spAutoFit/>
          </a:bodyPr>
          <a:lstStyle/>
          <a:p>
            <a:pPr algn="l"/>
            <a:r>
              <a:rPr sz="1200" b="0" i="0">
                <a:solidFill>
                  <a:srgbClr val="5A6E64"/>
                </a:solidFill>
                <a:latin typeface="Segoe UI"/>
              </a:rPr>
              <a:t>BV Quân y 103 · 2024</a:t>
            </a:r>
          </a:p>
        </p:txBody>
      </p:sp>
      <p:sp>
        <p:nvSpPr>
          <p:cNvPr id="11" name="Rounded Rectangle 10"/>
          <p:cNvSpPr/>
          <p:nvPr/>
        </p:nvSpPr>
        <p:spPr>
          <a:xfrm>
            <a:off x="4407408" y="1867204"/>
            <a:ext cx="3520440" cy="3063240"/>
          </a:xfrm>
          <a:prstGeom prst="roundRect">
            <a:avLst>
              <a:gd name="adj" fmla="val 6567"/>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34256" y="1783080"/>
            <a:ext cx="3520440" cy="3063240"/>
          </a:xfrm>
          <a:prstGeom prst="roundRect">
            <a:avLst>
              <a:gd name="adj" fmla="val 6567"/>
            </a:avLst>
          </a:prstGeom>
          <a:solidFill>
            <a:srgbClr val="FFFFFF"/>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54296" y="2103120"/>
            <a:ext cx="2926080" cy="1188720"/>
          </a:xfrm>
          <a:prstGeom prst="rect">
            <a:avLst/>
          </a:prstGeom>
          <a:noFill/>
        </p:spPr>
        <p:txBody>
          <a:bodyPr wrap="square" lIns="0" rIns="0" tIns="0" bIns="0" anchor="ctr">
            <a:spAutoFit/>
          </a:bodyPr>
          <a:lstStyle/>
          <a:p>
            <a:pPr algn="l"/>
            <a:r>
              <a:rPr sz="6000" b="0" i="0">
                <a:solidFill>
                  <a:srgbClr val="285C45"/>
                </a:solidFill>
                <a:latin typeface="FC Baby Doll"/>
              </a:rPr>
              <a:t>13,7%</a:t>
            </a:r>
          </a:p>
        </p:txBody>
      </p:sp>
      <p:sp>
        <p:nvSpPr>
          <p:cNvPr id="14" name="Rounded Rectangle 13"/>
          <p:cNvSpPr/>
          <p:nvPr/>
        </p:nvSpPr>
        <p:spPr>
          <a:xfrm>
            <a:off x="4654296" y="3401568"/>
            <a:ext cx="1005840" cy="54864"/>
          </a:xfrm>
          <a:prstGeom prst="roundRect">
            <a:avLst>
              <a:gd name="adj" fmla="val 50000"/>
            </a:avLst>
          </a:prstGeom>
          <a:solidFill>
            <a:srgbClr val="BD5F57"/>
          </a:solidFill>
          <a:ln w="28575">
            <a:solidFill>
              <a:srgbClr val="BD5F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54296" y="3611880"/>
            <a:ext cx="2926080" cy="731520"/>
          </a:xfrm>
          <a:prstGeom prst="rect">
            <a:avLst/>
          </a:prstGeom>
          <a:noFill/>
        </p:spPr>
        <p:txBody>
          <a:bodyPr wrap="square" lIns="0" rIns="0" tIns="0" bIns="0" anchor="t">
            <a:spAutoFit/>
          </a:bodyPr>
          <a:lstStyle/>
          <a:p>
            <a:pPr algn="l">
              <a:lnSpc>
                <a:spcPct val="100000"/>
              </a:lnSpc>
            </a:pPr>
            <a:r>
              <a:rPr sz="2200" b="0" i="0">
                <a:solidFill>
                  <a:srgbClr val="1F2D26"/>
                </a:solidFill>
                <a:latin typeface="FC Baby Doll"/>
              </a:rPr>
              <a:t>đăng ký khám online</a:t>
            </a:r>
          </a:p>
        </p:txBody>
      </p:sp>
      <p:sp>
        <p:nvSpPr>
          <p:cNvPr id="16" name="TextBox 15"/>
          <p:cNvSpPr txBox="1"/>
          <p:nvPr/>
        </p:nvSpPr>
        <p:spPr>
          <a:xfrm>
            <a:off x="4654296" y="4297680"/>
            <a:ext cx="2926080" cy="457200"/>
          </a:xfrm>
          <a:prstGeom prst="rect">
            <a:avLst/>
          </a:prstGeom>
          <a:noFill/>
        </p:spPr>
        <p:txBody>
          <a:bodyPr wrap="square" lIns="0" rIns="0" tIns="0" bIns="0" anchor="t">
            <a:spAutoFit/>
          </a:bodyPr>
          <a:lstStyle/>
          <a:p>
            <a:pPr algn="l"/>
            <a:r>
              <a:rPr sz="1200" b="0" i="0">
                <a:solidFill>
                  <a:srgbClr val="5A6E64"/>
                </a:solidFill>
                <a:latin typeface="Segoe UI"/>
              </a:rPr>
              <a:t>BV Mắt TP.HCM · Tuổi Trẻ, 05/2025</a:t>
            </a:r>
          </a:p>
        </p:txBody>
      </p:sp>
      <p:sp>
        <p:nvSpPr>
          <p:cNvPr id="17" name="Rounded Rectangle 16"/>
          <p:cNvSpPr/>
          <p:nvPr/>
        </p:nvSpPr>
        <p:spPr>
          <a:xfrm>
            <a:off x="8174736" y="1867204"/>
            <a:ext cx="3520440" cy="3063240"/>
          </a:xfrm>
          <a:prstGeom prst="roundRect">
            <a:avLst>
              <a:gd name="adj" fmla="val 6567"/>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01583" y="1783080"/>
            <a:ext cx="3520440" cy="3063240"/>
          </a:xfrm>
          <a:prstGeom prst="roundRect">
            <a:avLst>
              <a:gd name="adj" fmla="val 6567"/>
            </a:avLst>
          </a:prstGeom>
          <a:solidFill>
            <a:srgbClr val="FFFFFF"/>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21624" y="2103120"/>
            <a:ext cx="2926080" cy="1188720"/>
          </a:xfrm>
          <a:prstGeom prst="rect">
            <a:avLst/>
          </a:prstGeom>
          <a:noFill/>
        </p:spPr>
        <p:txBody>
          <a:bodyPr wrap="square" lIns="0" rIns="0" tIns="0" bIns="0" anchor="ctr">
            <a:spAutoFit/>
          </a:bodyPr>
          <a:lstStyle/>
          <a:p>
            <a:pPr algn="l"/>
            <a:r>
              <a:rPr sz="6000" b="0" i="0">
                <a:solidFill>
                  <a:srgbClr val="7A2F2A"/>
                </a:solidFill>
                <a:latin typeface="FC Baby Doll"/>
              </a:rPr>
              <a:t>115</a:t>
            </a:r>
          </a:p>
        </p:txBody>
      </p:sp>
      <p:sp>
        <p:nvSpPr>
          <p:cNvPr id="20" name="Rounded Rectangle 19"/>
          <p:cNvSpPr/>
          <p:nvPr/>
        </p:nvSpPr>
        <p:spPr>
          <a:xfrm>
            <a:off x="8421624" y="3401568"/>
            <a:ext cx="1005840" cy="54864"/>
          </a:xfrm>
          <a:prstGeom prst="roundRect">
            <a:avLst>
              <a:gd name="adj" fmla="val 50000"/>
            </a:avLst>
          </a:prstGeom>
          <a:solidFill>
            <a:srgbClr val="BD5F57"/>
          </a:solidFill>
          <a:ln w="28575">
            <a:solidFill>
              <a:srgbClr val="BD5F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21624" y="3611880"/>
            <a:ext cx="2926080" cy="731520"/>
          </a:xfrm>
          <a:prstGeom prst="rect">
            <a:avLst/>
          </a:prstGeom>
          <a:noFill/>
        </p:spPr>
        <p:txBody>
          <a:bodyPr wrap="square" lIns="0" rIns="0" tIns="0" bIns="0" anchor="t">
            <a:spAutoFit/>
          </a:bodyPr>
          <a:lstStyle/>
          <a:p>
            <a:pPr algn="l">
              <a:lnSpc>
                <a:spcPct val="100000"/>
              </a:lnSpc>
            </a:pPr>
            <a:r>
              <a:rPr sz="2200" b="0" i="0">
                <a:solidFill>
                  <a:srgbClr val="1F2D26"/>
                </a:solidFill>
                <a:latin typeface="FC Baby Doll"/>
              </a:rPr>
              <a:t>bỏ sót ca cấp cứu</a:t>
            </a:r>
          </a:p>
        </p:txBody>
      </p:sp>
      <p:sp>
        <p:nvSpPr>
          <p:cNvPr id="22" name="TextBox 21"/>
          <p:cNvSpPr txBox="1"/>
          <p:nvPr/>
        </p:nvSpPr>
        <p:spPr>
          <a:xfrm>
            <a:off x="8421624" y="4297680"/>
            <a:ext cx="2926080" cy="457200"/>
          </a:xfrm>
          <a:prstGeom prst="rect">
            <a:avLst/>
          </a:prstGeom>
          <a:noFill/>
        </p:spPr>
        <p:txBody>
          <a:bodyPr wrap="square" lIns="0" rIns="0" tIns="0" bIns="0" anchor="t">
            <a:spAutoFit/>
          </a:bodyPr>
          <a:lstStyle/>
          <a:p>
            <a:pPr algn="l"/>
            <a:r>
              <a:rPr sz="1200" b="0" i="0">
                <a:solidFill>
                  <a:srgbClr val="5A6E64"/>
                </a:solidFill>
                <a:latin typeface="Segoe UI"/>
              </a:rPr>
              <a:t>Đau ngực, khó thở: đi viện ngay</a:t>
            </a:r>
          </a:p>
        </p:txBody>
      </p:sp>
      <p:sp>
        <p:nvSpPr>
          <p:cNvPr id="23" name="Rounded Rectangle 22"/>
          <p:cNvSpPr/>
          <p:nvPr/>
        </p:nvSpPr>
        <p:spPr>
          <a:xfrm>
            <a:off x="612648" y="5218938"/>
            <a:ext cx="11064240" cy="777240"/>
          </a:xfrm>
          <a:prstGeom prst="roundRect">
            <a:avLst>
              <a:gd name="adj" fmla="val 29411"/>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66928" y="5166360"/>
            <a:ext cx="11064240" cy="777240"/>
          </a:xfrm>
          <a:prstGeom prst="roundRect">
            <a:avLst>
              <a:gd name="adj" fmla="val 29411"/>
            </a:avLst>
          </a:prstGeom>
          <a:solidFill>
            <a:srgbClr val="D9EFE2"/>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166360"/>
            <a:ext cx="10424160" cy="777240"/>
          </a:xfrm>
          <a:prstGeom prst="rect">
            <a:avLst/>
          </a:prstGeom>
          <a:noFill/>
        </p:spPr>
        <p:txBody>
          <a:bodyPr wrap="square" lIns="0" rIns="0" tIns="0" bIns="0" anchor="ctr">
            <a:spAutoFit/>
          </a:bodyPr>
          <a:lstStyle/>
          <a:p>
            <a:pPr algn="l"/>
            <a:r>
              <a:rPr sz="2000" b="0" i="0">
                <a:solidFill>
                  <a:srgbClr val="1F2D26"/>
                </a:solidFill>
                <a:latin typeface="FC Baby Doll"/>
              </a:rPr>
              <a:t>Ràng buộc: chỉ định hướng, không chẩn đoán, không kê đơn.</a:t>
            </a:r>
          </a:p>
        </p:txBody>
      </p:sp>
      <p:cxnSp>
        <p:nvCxnSpPr>
          <p:cNvPr id="26" name="Connector 25"/>
          <p:cNvCxnSpPr/>
          <p:nvPr/>
        </p:nvCxnSpPr>
        <p:spPr>
          <a:xfrm>
            <a:off x="566928" y="6291072"/>
            <a:ext cx="11055096" cy="0"/>
          </a:xfrm>
          <a:prstGeom prst="line">
            <a:avLst/>
          </a:prstGeom>
          <a:ln w="22225">
            <a:solidFill>
              <a:srgbClr val="BD5F57"/>
            </a:solidFill>
            <a:prstDash val="dash"/>
          </a:ln>
        </p:spPr>
        <p:style>
          <a:lnRef idx="2">
            <a:schemeClr val="accent1"/>
          </a:lnRef>
          <a:fillRef idx="0">
            <a:schemeClr val="accent1"/>
          </a:fillRef>
          <a:effectRef idx="1">
            <a:schemeClr val="accent1"/>
          </a:effectRef>
          <a:fontRef idx="minor">
            <a:schemeClr val="tx1"/>
          </a:fontRef>
        </p:style>
      </p:cxnSp>
      <p:pic>
        <p:nvPicPr>
          <p:cNvPr id="27" name="Picture 26" descr="s2_Image5.png"/>
          <p:cNvPicPr>
            <a:picLocks noChangeAspect="1"/>
          </p:cNvPicPr>
          <p:nvPr/>
        </p:nvPicPr>
        <p:blipFill>
          <a:blip r:embed="rId2"/>
          <a:stretch>
            <a:fillRect/>
          </a:stretch>
        </p:blipFill>
        <p:spPr>
          <a:xfrm>
            <a:off x="566928" y="6364224"/>
            <a:ext cx="384048" cy="377172"/>
          </a:xfrm>
          <a:prstGeom prst="rect">
            <a:avLst/>
          </a:prstGeom>
        </p:spPr>
      </p:pic>
      <p:sp>
        <p:nvSpPr>
          <p:cNvPr id="28" name="TextBox 27"/>
          <p:cNvSpPr txBox="1"/>
          <p:nvPr/>
        </p:nvSpPr>
        <p:spPr>
          <a:xfrm>
            <a:off x="1060704" y="6400800"/>
            <a:ext cx="8961120" cy="274320"/>
          </a:xfrm>
          <a:prstGeom prst="rect">
            <a:avLst/>
          </a:prstGeom>
          <a:noFill/>
        </p:spPr>
        <p:txBody>
          <a:bodyPr wrap="square" lIns="0" rIns="0" tIns="0" bIns="0" anchor="ctr">
            <a:spAutoFit/>
          </a:bodyPr>
          <a:lstStyle/>
          <a:p>
            <a:pPr algn="l"/>
            <a:r>
              <a:rPr sz="1100" b="0" i="0">
                <a:solidFill>
                  <a:srgbClr val="5A6E64"/>
                </a:solidFill>
                <a:latin typeface="Segoe UI"/>
              </a:rPr>
              <a:t>VCare+ · Team P-124 · AI20K Build Phase</a:t>
            </a:r>
          </a:p>
        </p:txBody>
      </p:sp>
      <p:sp>
        <p:nvSpPr>
          <p:cNvPr id="29" name="TextBox 28"/>
          <p:cNvSpPr txBox="1"/>
          <p:nvPr/>
        </p:nvSpPr>
        <p:spPr>
          <a:xfrm>
            <a:off x="10607040" y="6400800"/>
            <a:ext cx="1014984" cy="274320"/>
          </a:xfrm>
          <a:prstGeom prst="rect">
            <a:avLst/>
          </a:prstGeom>
          <a:noFill/>
        </p:spPr>
        <p:txBody>
          <a:bodyPr wrap="square" lIns="0" rIns="0" tIns="0" bIns="0" anchor="ctr">
            <a:spAutoFit/>
          </a:bodyPr>
          <a:lstStyle/>
          <a:p>
            <a:pPr algn="r"/>
            <a:r>
              <a:rPr sz="1200" b="0" i="0">
                <a:solidFill>
                  <a:srgbClr val="5A6E64"/>
                </a:solidFill>
                <a:latin typeface="FC Baby Doll"/>
              </a:rPr>
              <a:t>02 / 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CF9"/>
        </a:solidFill>
        <a:effectLst/>
      </p:bgPr>
    </p:bg>
    <p:spTree>
      <p:nvGrpSpPr>
        <p:cNvPr id="1" name=""/>
        <p:cNvGrpSpPr/>
        <p:nvPr/>
      </p:nvGrpSpPr>
      <p:grpSpPr/>
      <p:sp>
        <p:nvSpPr>
          <p:cNvPr id="2" name="Rounded Rectangle 1"/>
          <p:cNvSpPr/>
          <p:nvPr/>
        </p:nvSpPr>
        <p:spPr>
          <a:xfrm>
            <a:off x="566928" y="384048"/>
            <a:ext cx="2455164" cy="347472"/>
          </a:xfrm>
          <a:prstGeom prst="roundRect">
            <a:avLst>
              <a:gd name="adj" fmla="val 50000"/>
            </a:avLst>
          </a:prstGeom>
          <a:solidFill>
            <a:srgbClr val="FFFFFF"/>
          </a:solidFill>
          <a:ln w="28575">
            <a:solidFill>
              <a:srgbClr val="BD5F5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2455164" cy="347472"/>
          </a:xfrm>
          <a:prstGeom prst="rect">
            <a:avLst/>
          </a:prstGeom>
          <a:noFill/>
        </p:spPr>
        <p:txBody>
          <a:bodyPr wrap="square" lIns="0" rIns="0" tIns="0" bIns="0" anchor="ctr">
            <a:spAutoFit/>
          </a:bodyPr>
          <a:lstStyle/>
          <a:p>
            <a:pPr algn="ctr"/>
            <a:r>
              <a:rPr sz="1400" b="0" i="0">
                <a:solidFill>
                  <a:srgbClr val="285C45"/>
                </a:solidFill>
                <a:latin typeface="FC Baby Doll"/>
              </a:rPr>
              <a:t>GIẢI PHÁP &amp; GIÁ TRỊ</a:t>
            </a:r>
          </a:p>
        </p:txBody>
      </p:sp>
      <p:sp>
        <p:nvSpPr>
          <p:cNvPr id="4" name="TextBox 3"/>
          <p:cNvSpPr txBox="1"/>
          <p:nvPr/>
        </p:nvSpPr>
        <p:spPr>
          <a:xfrm>
            <a:off x="566928" y="841248"/>
            <a:ext cx="10241280" cy="731520"/>
          </a:xfrm>
          <a:prstGeom prst="rect">
            <a:avLst/>
          </a:prstGeom>
          <a:noFill/>
        </p:spPr>
        <p:txBody>
          <a:bodyPr wrap="square" lIns="0" rIns="0" tIns="0" bIns="0" anchor="t">
            <a:spAutoFit/>
          </a:bodyPr>
          <a:lstStyle/>
          <a:p>
            <a:pPr algn="l"/>
            <a:r>
              <a:rPr sz="3800" b="0" i="0">
                <a:solidFill>
                  <a:srgbClr val="285C45"/>
                </a:solidFill>
                <a:latin typeface="FC Baby Doll"/>
              </a:rPr>
              <a:t>Một cuộc trò chuyện, con người luôn duyệt</a:t>
            </a:r>
          </a:p>
        </p:txBody>
      </p:sp>
      <p:sp>
        <p:nvSpPr>
          <p:cNvPr id="5" name="Rounded Rectangle 4"/>
          <p:cNvSpPr/>
          <p:nvPr/>
        </p:nvSpPr>
        <p:spPr>
          <a:xfrm>
            <a:off x="621792" y="1846173"/>
            <a:ext cx="1554480" cy="1600200"/>
          </a:xfrm>
          <a:prstGeom prst="roundRect">
            <a:avLst>
              <a:gd name="adj" fmla="val 10588"/>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783080"/>
            <a:ext cx="1554480" cy="1600200"/>
          </a:xfrm>
          <a:prstGeom prst="roundRect">
            <a:avLst>
              <a:gd name="adj" fmla="val 10588"/>
            </a:avLst>
          </a:prstGeom>
          <a:solidFill>
            <a:srgbClr val="FFFFFF"/>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01952"/>
            <a:ext cx="731520" cy="640080"/>
          </a:xfrm>
          <a:prstGeom prst="rect">
            <a:avLst/>
          </a:prstGeom>
          <a:noFill/>
        </p:spPr>
        <p:txBody>
          <a:bodyPr wrap="square" lIns="0" rIns="0" tIns="0" bIns="0" anchor="t">
            <a:spAutoFit/>
          </a:bodyPr>
          <a:lstStyle/>
          <a:p>
            <a:pPr algn="l"/>
            <a:r>
              <a:rPr sz="3400" b="0" i="0">
                <a:solidFill>
                  <a:srgbClr val="285C45"/>
                </a:solidFill>
                <a:latin typeface="FC Baby Doll"/>
              </a:rPr>
              <a:t>1</a:t>
            </a:r>
          </a:p>
        </p:txBody>
      </p:sp>
      <p:sp>
        <p:nvSpPr>
          <p:cNvPr id="8" name="TextBox 7"/>
          <p:cNvSpPr txBox="1"/>
          <p:nvPr/>
        </p:nvSpPr>
        <p:spPr>
          <a:xfrm>
            <a:off x="731520" y="2606040"/>
            <a:ext cx="1280160" cy="731520"/>
          </a:xfrm>
          <a:prstGeom prst="rect">
            <a:avLst/>
          </a:prstGeom>
          <a:noFill/>
        </p:spPr>
        <p:txBody>
          <a:bodyPr wrap="square" lIns="0" rIns="0" tIns="0" bIns="0" anchor="t">
            <a:spAutoFit/>
          </a:bodyPr>
          <a:lstStyle/>
          <a:p>
            <a:pPr algn="l">
              <a:lnSpc>
                <a:spcPct val="100000"/>
              </a:lnSpc>
            </a:pPr>
            <a:r>
              <a:rPr sz="1600" b="0" i="0">
                <a:solidFill>
                  <a:srgbClr val="1F2D26"/>
                </a:solidFill>
                <a:latin typeface="FC Baby Doll"/>
              </a:rPr>
              <a:t>Hỏi triệu chứng</a:t>
            </a:r>
          </a:p>
        </p:txBody>
      </p:sp>
      <p:sp>
        <p:nvSpPr>
          <p:cNvPr id="9" name="TextBox 8"/>
          <p:cNvSpPr txBox="1"/>
          <p:nvPr/>
        </p:nvSpPr>
        <p:spPr>
          <a:xfrm>
            <a:off x="2121408" y="2331720"/>
            <a:ext cx="347472" cy="457200"/>
          </a:xfrm>
          <a:prstGeom prst="rect">
            <a:avLst/>
          </a:prstGeom>
          <a:noFill/>
        </p:spPr>
        <p:txBody>
          <a:bodyPr wrap="square" lIns="0" rIns="0" tIns="0" bIns="0" anchor="ctr">
            <a:spAutoFit/>
          </a:bodyPr>
          <a:lstStyle/>
          <a:p>
            <a:pPr algn="ctr"/>
            <a:r>
              <a:rPr sz="2200" b="0" i="0">
                <a:solidFill>
                  <a:srgbClr val="285C45"/>
                </a:solidFill>
                <a:latin typeface="FC Baby Doll"/>
              </a:rPr>
              <a:t>→</a:t>
            </a:r>
          </a:p>
        </p:txBody>
      </p:sp>
      <p:sp>
        <p:nvSpPr>
          <p:cNvPr id="10" name="Rounded Rectangle 9"/>
          <p:cNvSpPr/>
          <p:nvPr/>
        </p:nvSpPr>
        <p:spPr>
          <a:xfrm>
            <a:off x="2523744" y="1846173"/>
            <a:ext cx="1554480" cy="1600200"/>
          </a:xfrm>
          <a:prstGeom prst="roundRect">
            <a:avLst>
              <a:gd name="adj" fmla="val 10588"/>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468880" y="1783080"/>
            <a:ext cx="1554480" cy="1600200"/>
          </a:xfrm>
          <a:prstGeom prst="roundRect">
            <a:avLst>
              <a:gd name="adj" fmla="val 10588"/>
            </a:avLst>
          </a:prstGeom>
          <a:solidFill>
            <a:srgbClr val="FFFFFF"/>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33472" y="1901952"/>
            <a:ext cx="731520" cy="640080"/>
          </a:xfrm>
          <a:prstGeom prst="rect">
            <a:avLst/>
          </a:prstGeom>
          <a:noFill/>
        </p:spPr>
        <p:txBody>
          <a:bodyPr wrap="square" lIns="0" rIns="0" tIns="0" bIns="0" anchor="t">
            <a:spAutoFit/>
          </a:bodyPr>
          <a:lstStyle/>
          <a:p>
            <a:pPr algn="l"/>
            <a:r>
              <a:rPr sz="3400" b="0" i="0">
                <a:solidFill>
                  <a:srgbClr val="285C45"/>
                </a:solidFill>
                <a:latin typeface="FC Baby Doll"/>
              </a:rPr>
              <a:t>2</a:t>
            </a:r>
          </a:p>
        </p:txBody>
      </p:sp>
      <p:sp>
        <p:nvSpPr>
          <p:cNvPr id="13" name="TextBox 12"/>
          <p:cNvSpPr txBox="1"/>
          <p:nvPr/>
        </p:nvSpPr>
        <p:spPr>
          <a:xfrm>
            <a:off x="2633472" y="2606040"/>
            <a:ext cx="1280160" cy="731520"/>
          </a:xfrm>
          <a:prstGeom prst="rect">
            <a:avLst/>
          </a:prstGeom>
          <a:noFill/>
        </p:spPr>
        <p:txBody>
          <a:bodyPr wrap="square" lIns="0" rIns="0" tIns="0" bIns="0" anchor="t">
            <a:spAutoFit/>
          </a:bodyPr>
          <a:lstStyle/>
          <a:p>
            <a:pPr algn="l">
              <a:lnSpc>
                <a:spcPct val="100000"/>
              </a:lnSpc>
            </a:pPr>
            <a:r>
              <a:rPr sz="1600" b="0" i="0">
                <a:solidFill>
                  <a:srgbClr val="1F2D26"/>
                </a:solidFill>
                <a:latin typeface="FC Baby Doll"/>
              </a:rPr>
              <a:t>Gợi ý chuyên khoa</a:t>
            </a:r>
          </a:p>
        </p:txBody>
      </p:sp>
      <p:sp>
        <p:nvSpPr>
          <p:cNvPr id="14" name="TextBox 13"/>
          <p:cNvSpPr txBox="1"/>
          <p:nvPr/>
        </p:nvSpPr>
        <p:spPr>
          <a:xfrm>
            <a:off x="4023360" y="2331720"/>
            <a:ext cx="347472" cy="457200"/>
          </a:xfrm>
          <a:prstGeom prst="rect">
            <a:avLst/>
          </a:prstGeom>
          <a:noFill/>
        </p:spPr>
        <p:txBody>
          <a:bodyPr wrap="square" lIns="0" rIns="0" tIns="0" bIns="0" anchor="ctr">
            <a:spAutoFit/>
          </a:bodyPr>
          <a:lstStyle/>
          <a:p>
            <a:pPr algn="ctr"/>
            <a:r>
              <a:rPr sz="2200" b="0" i="0">
                <a:solidFill>
                  <a:srgbClr val="285C45"/>
                </a:solidFill>
                <a:latin typeface="FC Baby Doll"/>
              </a:rPr>
              <a:t>→</a:t>
            </a:r>
          </a:p>
        </p:txBody>
      </p:sp>
      <p:sp>
        <p:nvSpPr>
          <p:cNvPr id="15" name="Rounded Rectangle 14"/>
          <p:cNvSpPr/>
          <p:nvPr/>
        </p:nvSpPr>
        <p:spPr>
          <a:xfrm>
            <a:off x="4425696" y="1846173"/>
            <a:ext cx="1554480" cy="1600200"/>
          </a:xfrm>
          <a:prstGeom prst="roundRect">
            <a:avLst>
              <a:gd name="adj" fmla="val 10588"/>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70832" y="1783080"/>
            <a:ext cx="1554480" cy="1600200"/>
          </a:xfrm>
          <a:prstGeom prst="roundRect">
            <a:avLst>
              <a:gd name="adj" fmla="val 10588"/>
            </a:avLst>
          </a:prstGeom>
          <a:solidFill>
            <a:srgbClr val="FFFFFF"/>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1901952"/>
            <a:ext cx="731520" cy="640080"/>
          </a:xfrm>
          <a:prstGeom prst="rect">
            <a:avLst/>
          </a:prstGeom>
          <a:noFill/>
        </p:spPr>
        <p:txBody>
          <a:bodyPr wrap="square" lIns="0" rIns="0" tIns="0" bIns="0" anchor="t">
            <a:spAutoFit/>
          </a:bodyPr>
          <a:lstStyle/>
          <a:p>
            <a:pPr algn="l"/>
            <a:r>
              <a:rPr sz="3400" b="0" i="0">
                <a:solidFill>
                  <a:srgbClr val="285C45"/>
                </a:solidFill>
                <a:latin typeface="FC Baby Doll"/>
              </a:rPr>
              <a:t>3</a:t>
            </a:r>
          </a:p>
        </p:txBody>
      </p:sp>
      <p:sp>
        <p:nvSpPr>
          <p:cNvPr id="18" name="TextBox 17"/>
          <p:cNvSpPr txBox="1"/>
          <p:nvPr/>
        </p:nvSpPr>
        <p:spPr>
          <a:xfrm>
            <a:off x="4535424" y="2606040"/>
            <a:ext cx="1280160" cy="731520"/>
          </a:xfrm>
          <a:prstGeom prst="rect">
            <a:avLst/>
          </a:prstGeom>
          <a:noFill/>
        </p:spPr>
        <p:txBody>
          <a:bodyPr wrap="square" lIns="0" rIns="0" tIns="0" bIns="0" anchor="t">
            <a:spAutoFit/>
          </a:bodyPr>
          <a:lstStyle/>
          <a:p>
            <a:pPr algn="l">
              <a:lnSpc>
                <a:spcPct val="100000"/>
              </a:lnSpc>
            </a:pPr>
            <a:r>
              <a:rPr sz="1600" b="0" i="0">
                <a:solidFill>
                  <a:srgbClr val="1F2D26"/>
                </a:solidFill>
                <a:latin typeface="FC Baby Doll"/>
              </a:rPr>
              <a:t>Tìm bác sĩ</a:t>
            </a:r>
          </a:p>
        </p:txBody>
      </p:sp>
      <p:sp>
        <p:nvSpPr>
          <p:cNvPr id="19" name="TextBox 18"/>
          <p:cNvSpPr txBox="1"/>
          <p:nvPr/>
        </p:nvSpPr>
        <p:spPr>
          <a:xfrm>
            <a:off x="5925312" y="2331720"/>
            <a:ext cx="347472" cy="457200"/>
          </a:xfrm>
          <a:prstGeom prst="rect">
            <a:avLst/>
          </a:prstGeom>
          <a:noFill/>
        </p:spPr>
        <p:txBody>
          <a:bodyPr wrap="square" lIns="0" rIns="0" tIns="0" bIns="0" anchor="ctr">
            <a:spAutoFit/>
          </a:bodyPr>
          <a:lstStyle/>
          <a:p>
            <a:pPr algn="ctr"/>
            <a:r>
              <a:rPr sz="2200" b="0" i="0">
                <a:solidFill>
                  <a:srgbClr val="285C45"/>
                </a:solidFill>
                <a:latin typeface="FC Baby Doll"/>
              </a:rPr>
              <a:t>→</a:t>
            </a:r>
          </a:p>
        </p:txBody>
      </p:sp>
      <p:sp>
        <p:nvSpPr>
          <p:cNvPr id="20" name="Rounded Rectangle 19"/>
          <p:cNvSpPr/>
          <p:nvPr/>
        </p:nvSpPr>
        <p:spPr>
          <a:xfrm>
            <a:off x="6327648" y="1846173"/>
            <a:ext cx="1554480" cy="1600200"/>
          </a:xfrm>
          <a:prstGeom prst="roundRect">
            <a:avLst>
              <a:gd name="adj" fmla="val 10588"/>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72784" y="1783080"/>
            <a:ext cx="1554480" cy="1600200"/>
          </a:xfrm>
          <a:prstGeom prst="roundRect">
            <a:avLst>
              <a:gd name="adj" fmla="val 10588"/>
            </a:avLst>
          </a:prstGeom>
          <a:solidFill>
            <a:srgbClr val="FFFFFF"/>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7376" y="1901952"/>
            <a:ext cx="731520" cy="640080"/>
          </a:xfrm>
          <a:prstGeom prst="rect">
            <a:avLst/>
          </a:prstGeom>
          <a:noFill/>
        </p:spPr>
        <p:txBody>
          <a:bodyPr wrap="square" lIns="0" rIns="0" tIns="0" bIns="0" anchor="t">
            <a:spAutoFit/>
          </a:bodyPr>
          <a:lstStyle/>
          <a:p>
            <a:pPr algn="l"/>
            <a:r>
              <a:rPr sz="3400" b="0" i="0">
                <a:solidFill>
                  <a:srgbClr val="285C45"/>
                </a:solidFill>
                <a:latin typeface="FC Baby Doll"/>
              </a:rPr>
              <a:t>4</a:t>
            </a:r>
          </a:p>
        </p:txBody>
      </p:sp>
      <p:sp>
        <p:nvSpPr>
          <p:cNvPr id="23" name="TextBox 22"/>
          <p:cNvSpPr txBox="1"/>
          <p:nvPr/>
        </p:nvSpPr>
        <p:spPr>
          <a:xfrm>
            <a:off x="6437376" y="2606040"/>
            <a:ext cx="1280160" cy="731520"/>
          </a:xfrm>
          <a:prstGeom prst="rect">
            <a:avLst/>
          </a:prstGeom>
          <a:noFill/>
        </p:spPr>
        <p:txBody>
          <a:bodyPr wrap="square" lIns="0" rIns="0" tIns="0" bIns="0" anchor="t">
            <a:spAutoFit/>
          </a:bodyPr>
          <a:lstStyle/>
          <a:p>
            <a:pPr algn="l">
              <a:lnSpc>
                <a:spcPct val="100000"/>
              </a:lnSpc>
            </a:pPr>
            <a:r>
              <a:rPr sz="1600" b="0" i="0">
                <a:solidFill>
                  <a:srgbClr val="1F2D26"/>
                </a:solidFill>
                <a:latin typeface="FC Baby Doll"/>
              </a:rPr>
              <a:t>Bệnh nhân xác nhận</a:t>
            </a:r>
          </a:p>
        </p:txBody>
      </p:sp>
      <p:sp>
        <p:nvSpPr>
          <p:cNvPr id="24" name="TextBox 23"/>
          <p:cNvSpPr txBox="1"/>
          <p:nvPr/>
        </p:nvSpPr>
        <p:spPr>
          <a:xfrm>
            <a:off x="7827264" y="2331720"/>
            <a:ext cx="347472" cy="457200"/>
          </a:xfrm>
          <a:prstGeom prst="rect">
            <a:avLst/>
          </a:prstGeom>
          <a:noFill/>
        </p:spPr>
        <p:txBody>
          <a:bodyPr wrap="square" lIns="0" rIns="0" tIns="0" bIns="0" anchor="ctr">
            <a:spAutoFit/>
          </a:bodyPr>
          <a:lstStyle/>
          <a:p>
            <a:pPr algn="ctr"/>
            <a:r>
              <a:rPr sz="2200" b="0" i="0">
                <a:solidFill>
                  <a:srgbClr val="BD5F57"/>
                </a:solidFill>
                <a:latin typeface="FC Baby Doll"/>
              </a:rPr>
              <a:t>→</a:t>
            </a:r>
          </a:p>
        </p:txBody>
      </p:sp>
      <p:sp>
        <p:nvSpPr>
          <p:cNvPr id="25" name="Rounded Rectangle 24"/>
          <p:cNvSpPr/>
          <p:nvPr/>
        </p:nvSpPr>
        <p:spPr>
          <a:xfrm>
            <a:off x="8229600" y="1846173"/>
            <a:ext cx="1554480" cy="1600200"/>
          </a:xfrm>
          <a:prstGeom prst="roundRect">
            <a:avLst>
              <a:gd name="adj" fmla="val 10588"/>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174736" y="1783080"/>
            <a:ext cx="1554480" cy="1600200"/>
          </a:xfrm>
          <a:prstGeom prst="roundRect">
            <a:avLst>
              <a:gd name="adj" fmla="val 10588"/>
            </a:avLst>
          </a:prstGeom>
          <a:solidFill>
            <a:srgbClr val="BD5F57"/>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9327" y="1901952"/>
            <a:ext cx="731520" cy="640080"/>
          </a:xfrm>
          <a:prstGeom prst="rect">
            <a:avLst/>
          </a:prstGeom>
          <a:noFill/>
        </p:spPr>
        <p:txBody>
          <a:bodyPr wrap="square" lIns="0" rIns="0" tIns="0" bIns="0" anchor="t">
            <a:spAutoFit/>
          </a:bodyPr>
          <a:lstStyle/>
          <a:p>
            <a:pPr algn="l"/>
            <a:r>
              <a:rPr sz="3400" b="0" i="0">
                <a:solidFill>
                  <a:srgbClr val="FFFFFF"/>
                </a:solidFill>
                <a:latin typeface="FC Baby Doll"/>
              </a:rPr>
              <a:t>5</a:t>
            </a:r>
          </a:p>
        </p:txBody>
      </p:sp>
      <p:sp>
        <p:nvSpPr>
          <p:cNvPr id="28" name="TextBox 27"/>
          <p:cNvSpPr txBox="1"/>
          <p:nvPr/>
        </p:nvSpPr>
        <p:spPr>
          <a:xfrm>
            <a:off x="8339327" y="2606040"/>
            <a:ext cx="1280160" cy="731520"/>
          </a:xfrm>
          <a:prstGeom prst="rect">
            <a:avLst/>
          </a:prstGeom>
          <a:noFill/>
        </p:spPr>
        <p:txBody>
          <a:bodyPr wrap="square" lIns="0" rIns="0" tIns="0" bIns="0" anchor="t">
            <a:spAutoFit/>
          </a:bodyPr>
          <a:lstStyle/>
          <a:p>
            <a:pPr algn="l">
              <a:lnSpc>
                <a:spcPct val="100000"/>
              </a:lnSpc>
            </a:pPr>
            <a:r>
              <a:rPr sz="1600" b="0" i="0">
                <a:solidFill>
                  <a:srgbClr val="FFFFFF"/>
                </a:solidFill>
                <a:latin typeface="FC Baby Doll"/>
              </a:rPr>
              <a:t>Điều phối viên duyệt</a:t>
            </a:r>
          </a:p>
        </p:txBody>
      </p:sp>
      <p:sp>
        <p:nvSpPr>
          <p:cNvPr id="29" name="TextBox 28"/>
          <p:cNvSpPr txBox="1"/>
          <p:nvPr/>
        </p:nvSpPr>
        <p:spPr>
          <a:xfrm>
            <a:off x="9729215" y="2331720"/>
            <a:ext cx="347472" cy="457200"/>
          </a:xfrm>
          <a:prstGeom prst="rect">
            <a:avLst/>
          </a:prstGeom>
          <a:noFill/>
        </p:spPr>
        <p:txBody>
          <a:bodyPr wrap="square" lIns="0" rIns="0" tIns="0" bIns="0" anchor="ctr">
            <a:spAutoFit/>
          </a:bodyPr>
          <a:lstStyle/>
          <a:p>
            <a:pPr algn="ctr"/>
            <a:r>
              <a:rPr sz="2200" b="0" i="0">
                <a:solidFill>
                  <a:srgbClr val="285C45"/>
                </a:solidFill>
                <a:latin typeface="FC Baby Doll"/>
              </a:rPr>
              <a:t>→</a:t>
            </a:r>
          </a:p>
        </p:txBody>
      </p:sp>
      <p:sp>
        <p:nvSpPr>
          <p:cNvPr id="30" name="Rounded Rectangle 29"/>
          <p:cNvSpPr/>
          <p:nvPr/>
        </p:nvSpPr>
        <p:spPr>
          <a:xfrm>
            <a:off x="10131552" y="1846173"/>
            <a:ext cx="1554480" cy="1600200"/>
          </a:xfrm>
          <a:prstGeom prst="roundRect">
            <a:avLst>
              <a:gd name="adj" fmla="val 10588"/>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076688" y="1783080"/>
            <a:ext cx="1554480" cy="1600200"/>
          </a:xfrm>
          <a:prstGeom prst="roundRect">
            <a:avLst>
              <a:gd name="adj" fmla="val 10588"/>
            </a:avLst>
          </a:prstGeom>
          <a:solidFill>
            <a:srgbClr val="FFFFFF"/>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241280" y="1901952"/>
            <a:ext cx="731520" cy="640080"/>
          </a:xfrm>
          <a:prstGeom prst="rect">
            <a:avLst/>
          </a:prstGeom>
          <a:noFill/>
        </p:spPr>
        <p:txBody>
          <a:bodyPr wrap="square" lIns="0" rIns="0" tIns="0" bIns="0" anchor="t">
            <a:spAutoFit/>
          </a:bodyPr>
          <a:lstStyle/>
          <a:p>
            <a:pPr algn="l"/>
            <a:r>
              <a:rPr sz="3400" b="0" i="0">
                <a:solidFill>
                  <a:srgbClr val="285C45"/>
                </a:solidFill>
                <a:latin typeface="FC Baby Doll"/>
              </a:rPr>
              <a:t>6</a:t>
            </a:r>
          </a:p>
        </p:txBody>
      </p:sp>
      <p:sp>
        <p:nvSpPr>
          <p:cNvPr id="33" name="TextBox 32"/>
          <p:cNvSpPr txBox="1"/>
          <p:nvPr/>
        </p:nvSpPr>
        <p:spPr>
          <a:xfrm>
            <a:off x="10241280" y="2606040"/>
            <a:ext cx="1280160" cy="731520"/>
          </a:xfrm>
          <a:prstGeom prst="rect">
            <a:avLst/>
          </a:prstGeom>
          <a:noFill/>
        </p:spPr>
        <p:txBody>
          <a:bodyPr wrap="square" lIns="0" rIns="0" tIns="0" bIns="0" anchor="t">
            <a:spAutoFit/>
          </a:bodyPr>
          <a:lstStyle/>
          <a:p>
            <a:pPr algn="l">
              <a:lnSpc>
                <a:spcPct val="100000"/>
              </a:lnSpc>
            </a:pPr>
            <a:r>
              <a:rPr sz="1600" b="0" i="0">
                <a:solidFill>
                  <a:srgbClr val="1F2D26"/>
                </a:solidFill>
                <a:latin typeface="FC Baby Doll"/>
              </a:rPr>
              <a:t>Nhắc lịch</a:t>
            </a:r>
          </a:p>
        </p:txBody>
      </p:sp>
      <p:sp>
        <p:nvSpPr>
          <p:cNvPr id="34" name="Rounded Rectangle 33"/>
          <p:cNvSpPr/>
          <p:nvPr/>
        </p:nvSpPr>
        <p:spPr>
          <a:xfrm>
            <a:off x="612648" y="3664458"/>
            <a:ext cx="11064240" cy="685800"/>
          </a:xfrm>
          <a:prstGeom prst="roundRect">
            <a:avLst>
              <a:gd name="adj" fmla="val 29333"/>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66928" y="3611880"/>
            <a:ext cx="11064240" cy="685800"/>
          </a:xfrm>
          <a:prstGeom prst="roundRect">
            <a:avLst>
              <a:gd name="adj" fmla="val 29333"/>
            </a:avLst>
          </a:prstGeom>
          <a:solidFill>
            <a:srgbClr val="F8E4E2"/>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8680" y="3611880"/>
            <a:ext cx="10515600" cy="685800"/>
          </a:xfrm>
          <a:prstGeom prst="rect">
            <a:avLst/>
          </a:prstGeom>
          <a:noFill/>
        </p:spPr>
        <p:txBody>
          <a:bodyPr wrap="square" lIns="0" rIns="0" tIns="0" bIns="0" anchor="ctr">
            <a:spAutoFit/>
          </a:bodyPr>
          <a:lstStyle/>
          <a:p>
            <a:pPr algn="l"/>
            <a:r>
              <a:rPr sz="1900" b="0" i="0">
                <a:solidFill>
                  <a:srgbClr val="7A2F2A"/>
                </a:solidFill>
                <a:latin typeface="FC Baby Doll"/>
              </a:rPr>
              <a:t>Thử nghiệm: 104 hồ sơ điều phối, 0 lịch hẹn chính thức được chốt tự động.</a:t>
            </a:r>
          </a:p>
        </p:txBody>
      </p:sp>
      <p:sp>
        <p:nvSpPr>
          <p:cNvPr id="37" name="Rounded Rectangle 36"/>
          <p:cNvSpPr/>
          <p:nvPr/>
        </p:nvSpPr>
        <p:spPr>
          <a:xfrm>
            <a:off x="621792" y="4635093"/>
            <a:ext cx="3520440" cy="1371600"/>
          </a:xfrm>
          <a:prstGeom prst="roundRect">
            <a:avLst>
              <a:gd name="adj" fmla="val 13333"/>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66928" y="4572000"/>
            <a:ext cx="3520440" cy="1371600"/>
          </a:xfrm>
          <a:prstGeom prst="roundRect">
            <a:avLst>
              <a:gd name="adj" fmla="val 13333"/>
            </a:avLst>
          </a:prstGeom>
          <a:solidFill>
            <a:srgbClr val="FFFFFF"/>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1247" y="4754880"/>
            <a:ext cx="3017520" cy="411480"/>
          </a:xfrm>
          <a:prstGeom prst="rect">
            <a:avLst/>
          </a:prstGeom>
          <a:noFill/>
        </p:spPr>
        <p:txBody>
          <a:bodyPr wrap="square" lIns="0" rIns="0" tIns="0" bIns="0" anchor="t">
            <a:spAutoFit/>
          </a:bodyPr>
          <a:lstStyle/>
          <a:p>
            <a:pPr algn="l"/>
            <a:r>
              <a:rPr sz="2000" b="0" i="0">
                <a:solidFill>
                  <a:srgbClr val="285C45"/>
                </a:solidFill>
                <a:latin typeface="FC Baby Doll"/>
              </a:rPr>
              <a:t>Bệnh nhân</a:t>
            </a:r>
          </a:p>
        </p:txBody>
      </p:sp>
      <p:sp>
        <p:nvSpPr>
          <p:cNvPr id="40" name="TextBox 39"/>
          <p:cNvSpPr txBox="1"/>
          <p:nvPr/>
        </p:nvSpPr>
        <p:spPr>
          <a:xfrm>
            <a:off x="841247" y="5230368"/>
            <a:ext cx="3017520" cy="640080"/>
          </a:xfrm>
          <a:prstGeom prst="rect">
            <a:avLst/>
          </a:prstGeom>
          <a:noFill/>
        </p:spPr>
        <p:txBody>
          <a:bodyPr wrap="square" lIns="0" rIns="0" tIns="0" bIns="0" anchor="t">
            <a:spAutoFit/>
          </a:bodyPr>
          <a:lstStyle/>
          <a:p>
            <a:pPr algn="l"/>
            <a:r>
              <a:rPr sz="1400" b="0" i="0">
                <a:solidFill>
                  <a:srgbClr val="1F2D26"/>
                </a:solidFill>
                <a:latin typeface="Segoe UI"/>
              </a:rPr>
              <a:t>Đúng khoa, cảnh báo cấp cứu sớm</a:t>
            </a:r>
          </a:p>
        </p:txBody>
      </p:sp>
      <p:sp>
        <p:nvSpPr>
          <p:cNvPr id="41" name="Rounded Rectangle 40"/>
          <p:cNvSpPr/>
          <p:nvPr/>
        </p:nvSpPr>
        <p:spPr>
          <a:xfrm>
            <a:off x="4389120" y="4635093"/>
            <a:ext cx="3520440" cy="1371600"/>
          </a:xfrm>
          <a:prstGeom prst="roundRect">
            <a:avLst>
              <a:gd name="adj" fmla="val 13333"/>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334256" y="4572000"/>
            <a:ext cx="3520440" cy="1371600"/>
          </a:xfrm>
          <a:prstGeom prst="roundRect">
            <a:avLst>
              <a:gd name="adj" fmla="val 13333"/>
            </a:avLst>
          </a:prstGeom>
          <a:solidFill>
            <a:srgbClr val="FFFFFF"/>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608576" y="4754880"/>
            <a:ext cx="3017520" cy="411480"/>
          </a:xfrm>
          <a:prstGeom prst="rect">
            <a:avLst/>
          </a:prstGeom>
          <a:noFill/>
        </p:spPr>
        <p:txBody>
          <a:bodyPr wrap="square" lIns="0" rIns="0" tIns="0" bIns="0" anchor="t">
            <a:spAutoFit/>
          </a:bodyPr>
          <a:lstStyle/>
          <a:p>
            <a:pPr algn="l"/>
            <a:r>
              <a:rPr sz="2000" b="0" i="0">
                <a:solidFill>
                  <a:srgbClr val="285C45"/>
                </a:solidFill>
                <a:latin typeface="FC Baby Doll"/>
              </a:rPr>
              <a:t>Điều phối viên</a:t>
            </a:r>
          </a:p>
        </p:txBody>
      </p:sp>
      <p:sp>
        <p:nvSpPr>
          <p:cNvPr id="44" name="TextBox 43"/>
          <p:cNvSpPr txBox="1"/>
          <p:nvPr/>
        </p:nvSpPr>
        <p:spPr>
          <a:xfrm>
            <a:off x="4608576" y="5230368"/>
            <a:ext cx="3017520" cy="640080"/>
          </a:xfrm>
          <a:prstGeom prst="rect">
            <a:avLst/>
          </a:prstGeom>
          <a:noFill/>
        </p:spPr>
        <p:txBody>
          <a:bodyPr wrap="square" lIns="0" rIns="0" tIns="0" bIns="0" anchor="t">
            <a:spAutoFit/>
          </a:bodyPr>
          <a:lstStyle/>
          <a:p>
            <a:pPr algn="l"/>
            <a:r>
              <a:rPr sz="1400" b="0" i="0">
                <a:solidFill>
                  <a:srgbClr val="1F2D26"/>
                </a:solidFill>
                <a:latin typeface="Segoe UI"/>
              </a:rPr>
              <a:t>Yêu cầu đủ thông tin, chỉ cần duyệt</a:t>
            </a:r>
          </a:p>
        </p:txBody>
      </p:sp>
      <p:sp>
        <p:nvSpPr>
          <p:cNvPr id="45" name="Rounded Rectangle 44"/>
          <p:cNvSpPr/>
          <p:nvPr/>
        </p:nvSpPr>
        <p:spPr>
          <a:xfrm>
            <a:off x="8156448" y="4635093"/>
            <a:ext cx="3520440" cy="1371600"/>
          </a:xfrm>
          <a:prstGeom prst="roundRect">
            <a:avLst>
              <a:gd name="adj" fmla="val 13333"/>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8101583" y="4572000"/>
            <a:ext cx="3520440" cy="1371600"/>
          </a:xfrm>
          <a:prstGeom prst="roundRect">
            <a:avLst>
              <a:gd name="adj" fmla="val 13333"/>
            </a:avLst>
          </a:prstGeom>
          <a:solidFill>
            <a:srgbClr val="FFFFFF"/>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375904" y="4754880"/>
            <a:ext cx="3017520" cy="411480"/>
          </a:xfrm>
          <a:prstGeom prst="rect">
            <a:avLst/>
          </a:prstGeom>
          <a:noFill/>
        </p:spPr>
        <p:txBody>
          <a:bodyPr wrap="square" lIns="0" rIns="0" tIns="0" bIns="0" anchor="t">
            <a:spAutoFit/>
          </a:bodyPr>
          <a:lstStyle/>
          <a:p>
            <a:pPr algn="l"/>
            <a:r>
              <a:rPr sz="2000" b="0" i="0">
                <a:solidFill>
                  <a:srgbClr val="285C45"/>
                </a:solidFill>
                <a:latin typeface="FC Baby Doll"/>
              </a:rPr>
              <a:t>Bệnh viện</a:t>
            </a:r>
          </a:p>
        </p:txBody>
      </p:sp>
      <p:sp>
        <p:nvSpPr>
          <p:cNvPr id="48" name="TextBox 47"/>
          <p:cNvSpPr txBox="1"/>
          <p:nvPr/>
        </p:nvSpPr>
        <p:spPr>
          <a:xfrm>
            <a:off x="8375904" y="5230368"/>
            <a:ext cx="3017520" cy="640080"/>
          </a:xfrm>
          <a:prstGeom prst="rect">
            <a:avLst/>
          </a:prstGeom>
          <a:noFill/>
        </p:spPr>
        <p:txBody>
          <a:bodyPr wrap="square" lIns="0" rIns="0" tIns="0" bIns="0" anchor="t">
            <a:spAutoFit/>
          </a:bodyPr>
          <a:lstStyle/>
          <a:p>
            <a:pPr algn="l"/>
            <a:r>
              <a:rPr sz="1400" b="0" i="0">
                <a:solidFill>
                  <a:srgbClr val="1F2D26"/>
                </a:solidFill>
                <a:latin typeface="Segoe UI"/>
              </a:rPr>
              <a:t>Giảm tải tiếp đón, có log giám sát</a:t>
            </a:r>
          </a:p>
        </p:txBody>
      </p:sp>
      <p:cxnSp>
        <p:nvCxnSpPr>
          <p:cNvPr id="49" name="Connector 48"/>
          <p:cNvCxnSpPr/>
          <p:nvPr/>
        </p:nvCxnSpPr>
        <p:spPr>
          <a:xfrm>
            <a:off x="566928" y="6291072"/>
            <a:ext cx="11055096" cy="0"/>
          </a:xfrm>
          <a:prstGeom prst="line">
            <a:avLst/>
          </a:prstGeom>
          <a:ln w="22225">
            <a:solidFill>
              <a:srgbClr val="BD5F57"/>
            </a:solidFill>
            <a:prstDash val="dash"/>
          </a:ln>
        </p:spPr>
        <p:style>
          <a:lnRef idx="2">
            <a:schemeClr val="accent1"/>
          </a:lnRef>
          <a:fillRef idx="0">
            <a:schemeClr val="accent1"/>
          </a:fillRef>
          <a:effectRef idx="1">
            <a:schemeClr val="accent1"/>
          </a:effectRef>
          <a:fontRef idx="minor">
            <a:schemeClr val="tx1"/>
          </a:fontRef>
        </p:style>
      </p:cxnSp>
      <p:pic>
        <p:nvPicPr>
          <p:cNvPr id="50" name="Picture 49" descr="s2_Image5.png"/>
          <p:cNvPicPr>
            <a:picLocks noChangeAspect="1"/>
          </p:cNvPicPr>
          <p:nvPr/>
        </p:nvPicPr>
        <p:blipFill>
          <a:blip r:embed="rId2"/>
          <a:stretch>
            <a:fillRect/>
          </a:stretch>
        </p:blipFill>
        <p:spPr>
          <a:xfrm>
            <a:off x="566928" y="6364224"/>
            <a:ext cx="384048" cy="377172"/>
          </a:xfrm>
          <a:prstGeom prst="rect">
            <a:avLst/>
          </a:prstGeom>
        </p:spPr>
      </p:pic>
      <p:sp>
        <p:nvSpPr>
          <p:cNvPr id="51" name="TextBox 50"/>
          <p:cNvSpPr txBox="1"/>
          <p:nvPr/>
        </p:nvSpPr>
        <p:spPr>
          <a:xfrm>
            <a:off x="1060704" y="6400800"/>
            <a:ext cx="8961120" cy="274320"/>
          </a:xfrm>
          <a:prstGeom prst="rect">
            <a:avLst/>
          </a:prstGeom>
          <a:noFill/>
        </p:spPr>
        <p:txBody>
          <a:bodyPr wrap="square" lIns="0" rIns="0" tIns="0" bIns="0" anchor="ctr">
            <a:spAutoFit/>
          </a:bodyPr>
          <a:lstStyle/>
          <a:p>
            <a:pPr algn="l"/>
            <a:r>
              <a:rPr sz="1100" b="0" i="0">
                <a:solidFill>
                  <a:srgbClr val="5A6E64"/>
                </a:solidFill>
                <a:latin typeface="Segoe UI"/>
              </a:rPr>
              <a:t>VCare+ · Team P-124 · AI20K Build Phase</a:t>
            </a:r>
          </a:p>
        </p:txBody>
      </p:sp>
      <p:sp>
        <p:nvSpPr>
          <p:cNvPr id="52" name="TextBox 51"/>
          <p:cNvSpPr txBox="1"/>
          <p:nvPr/>
        </p:nvSpPr>
        <p:spPr>
          <a:xfrm>
            <a:off x="10607040" y="6400800"/>
            <a:ext cx="1014984" cy="274320"/>
          </a:xfrm>
          <a:prstGeom prst="rect">
            <a:avLst/>
          </a:prstGeom>
          <a:noFill/>
        </p:spPr>
        <p:txBody>
          <a:bodyPr wrap="square" lIns="0" rIns="0" tIns="0" bIns="0" anchor="ctr">
            <a:spAutoFit/>
          </a:bodyPr>
          <a:lstStyle/>
          <a:p>
            <a:pPr algn="r"/>
            <a:r>
              <a:rPr sz="1200" b="0" i="0">
                <a:solidFill>
                  <a:srgbClr val="5A6E64"/>
                </a:solidFill>
                <a:latin typeface="FC Baby Doll"/>
              </a:rPr>
              <a:t>03 / 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CF9"/>
        </a:solidFill>
        <a:effectLst/>
      </p:bgPr>
    </p:bg>
    <p:spTree>
      <p:nvGrpSpPr>
        <p:cNvPr id="1" name=""/>
        <p:cNvGrpSpPr/>
        <p:nvPr/>
      </p:nvGrpSpPr>
      <p:grpSpPr/>
      <p:sp>
        <p:nvSpPr>
          <p:cNvPr id="2" name="Rounded Rectangle 1"/>
          <p:cNvSpPr/>
          <p:nvPr/>
        </p:nvSpPr>
        <p:spPr>
          <a:xfrm>
            <a:off x="566928" y="384048"/>
            <a:ext cx="1463040" cy="347472"/>
          </a:xfrm>
          <a:prstGeom prst="roundRect">
            <a:avLst>
              <a:gd name="adj" fmla="val 50000"/>
            </a:avLst>
          </a:prstGeom>
          <a:solidFill>
            <a:srgbClr val="FFFFFF"/>
          </a:solidFill>
          <a:ln w="28575">
            <a:solidFill>
              <a:srgbClr val="BD5F5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463040" cy="347472"/>
          </a:xfrm>
          <a:prstGeom prst="rect">
            <a:avLst/>
          </a:prstGeom>
          <a:noFill/>
        </p:spPr>
        <p:txBody>
          <a:bodyPr wrap="square" lIns="0" rIns="0" tIns="0" bIns="0" anchor="ctr">
            <a:spAutoFit/>
          </a:bodyPr>
          <a:lstStyle/>
          <a:p>
            <a:pPr algn="ctr"/>
            <a:r>
              <a:rPr sz="1400" b="0" i="0">
                <a:solidFill>
                  <a:srgbClr val="285C45"/>
                </a:solidFill>
                <a:latin typeface="FC Baby Doll"/>
              </a:rPr>
              <a:t>DEMO</a:t>
            </a:r>
          </a:p>
        </p:txBody>
      </p:sp>
      <p:sp>
        <p:nvSpPr>
          <p:cNvPr id="4" name="TextBox 3"/>
          <p:cNvSpPr txBox="1"/>
          <p:nvPr/>
        </p:nvSpPr>
        <p:spPr>
          <a:xfrm>
            <a:off x="566928" y="841248"/>
            <a:ext cx="7863840" cy="731520"/>
          </a:xfrm>
          <a:prstGeom prst="rect">
            <a:avLst/>
          </a:prstGeom>
          <a:noFill/>
        </p:spPr>
        <p:txBody>
          <a:bodyPr wrap="square" lIns="0" rIns="0" tIns="0" bIns="0" anchor="t">
            <a:spAutoFit/>
          </a:bodyPr>
          <a:lstStyle/>
          <a:p>
            <a:pPr algn="l"/>
            <a:r>
              <a:rPr sz="3800" b="0" i="0">
                <a:solidFill>
                  <a:srgbClr val="285C45"/>
                </a:solidFill>
                <a:latin typeface="FC Baby Doll"/>
              </a:rPr>
              <a:t>Ba kịch bản trên sản phẩm thật</a:t>
            </a:r>
          </a:p>
        </p:txBody>
      </p:sp>
      <p:sp>
        <p:nvSpPr>
          <p:cNvPr id="5" name="Rounded Rectangle 4"/>
          <p:cNvSpPr/>
          <p:nvPr/>
        </p:nvSpPr>
        <p:spPr>
          <a:xfrm>
            <a:off x="640080" y="1775764"/>
            <a:ext cx="3520440" cy="4343400"/>
          </a:xfrm>
          <a:prstGeom prst="roundRect">
            <a:avLst>
              <a:gd name="adj" fmla="val 5194"/>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691640"/>
            <a:ext cx="3520440" cy="4343400"/>
          </a:xfrm>
          <a:prstGeom prst="roundRect">
            <a:avLst>
              <a:gd name="adj" fmla="val 5194"/>
            </a:avLst>
          </a:prstGeom>
          <a:solidFill>
            <a:srgbClr val="FFFFFF"/>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74519"/>
            <a:ext cx="3154680" cy="1975104"/>
          </a:xfrm>
          <a:prstGeom prst="roundRect">
            <a:avLst>
              <a:gd name="adj" fmla="val 3703"/>
            </a:avLst>
          </a:prstGeom>
          <a:solidFill>
            <a:srgbClr val="F6FCF9"/>
          </a:solidFill>
          <a:ln w="19050">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4-sos-115.png"/>
          <p:cNvPicPr>
            <a:picLocks noChangeAspect="1"/>
          </p:cNvPicPr>
          <p:nvPr/>
        </p:nvPicPr>
        <p:blipFill>
          <a:blip r:embed="rId2"/>
          <a:stretch>
            <a:fillRect/>
          </a:stretch>
        </p:blipFill>
        <p:spPr>
          <a:xfrm>
            <a:off x="749808" y="1874519"/>
            <a:ext cx="3154680" cy="1971446"/>
          </a:xfrm>
          <a:prstGeom prst="rect">
            <a:avLst/>
          </a:prstGeom>
        </p:spPr>
      </p:pic>
      <p:sp>
        <p:nvSpPr>
          <p:cNvPr id="9" name="Rounded Rectangle 8"/>
          <p:cNvSpPr/>
          <p:nvPr/>
        </p:nvSpPr>
        <p:spPr>
          <a:xfrm>
            <a:off x="749808" y="1874519"/>
            <a:ext cx="3154680" cy="1975104"/>
          </a:xfrm>
          <a:prstGeom prst="roundRect">
            <a:avLst>
              <a:gd name="adj" fmla="val 3703"/>
            </a:avLst>
          </a:prstGeom>
          <a:noFill/>
          <a:ln w="19050">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3886200"/>
            <a:ext cx="3154680" cy="228600"/>
          </a:xfrm>
          <a:prstGeom prst="rect">
            <a:avLst/>
          </a:prstGeom>
          <a:noFill/>
        </p:spPr>
        <p:txBody>
          <a:bodyPr wrap="square" lIns="0" rIns="0" tIns="0" bIns="0" anchor="t">
            <a:spAutoFit/>
          </a:bodyPr>
          <a:lstStyle/>
          <a:p>
            <a:pPr algn="l"/>
            <a:r>
              <a:rPr sz="1000" b="0" i="1">
                <a:solidFill>
                  <a:srgbClr val="5A6E64"/>
                </a:solidFill>
                <a:latin typeface="Segoe UI"/>
              </a:rPr>
              <a:t>Màn hình cảnh báo 115</a:t>
            </a:r>
          </a:p>
        </p:txBody>
      </p:sp>
      <p:sp>
        <p:nvSpPr>
          <p:cNvPr id="11" name="Rounded Rectangle 10"/>
          <p:cNvSpPr/>
          <p:nvPr/>
        </p:nvSpPr>
        <p:spPr>
          <a:xfrm>
            <a:off x="795528" y="4206240"/>
            <a:ext cx="1554480" cy="329184"/>
          </a:xfrm>
          <a:prstGeom prst="roundRect">
            <a:avLst>
              <a:gd name="adj" fmla="val 50000"/>
            </a:avLst>
          </a:prstGeom>
          <a:solidFill>
            <a:srgbClr val="F8E4E2"/>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4206240"/>
            <a:ext cx="1554480" cy="329184"/>
          </a:xfrm>
          <a:prstGeom prst="rect">
            <a:avLst/>
          </a:prstGeom>
          <a:noFill/>
        </p:spPr>
        <p:txBody>
          <a:bodyPr wrap="square" lIns="0" rIns="0" tIns="0" bIns="0" anchor="ctr">
            <a:spAutoFit/>
          </a:bodyPr>
          <a:lstStyle/>
          <a:p>
            <a:pPr algn="ctr"/>
            <a:r>
              <a:rPr sz="1300" b="0" i="0">
                <a:solidFill>
                  <a:srgbClr val="7A2F2A"/>
                </a:solidFill>
                <a:latin typeface="FC Baby Doll"/>
              </a:rPr>
              <a:t>CẤP CỨU</a:t>
            </a:r>
          </a:p>
        </p:txBody>
      </p:sp>
      <p:sp>
        <p:nvSpPr>
          <p:cNvPr id="13" name="TextBox 12"/>
          <p:cNvSpPr txBox="1"/>
          <p:nvPr/>
        </p:nvSpPr>
        <p:spPr>
          <a:xfrm>
            <a:off x="795528" y="4617720"/>
            <a:ext cx="3108960" cy="457200"/>
          </a:xfrm>
          <a:prstGeom prst="rect">
            <a:avLst/>
          </a:prstGeom>
          <a:noFill/>
        </p:spPr>
        <p:txBody>
          <a:bodyPr wrap="square" lIns="0" rIns="0" tIns="0" bIns="0" anchor="t">
            <a:spAutoFit/>
          </a:bodyPr>
          <a:lstStyle/>
          <a:p>
            <a:pPr algn="l"/>
            <a:r>
              <a:rPr sz="1300" b="0" i="1">
                <a:solidFill>
                  <a:srgbClr val="1F2D26"/>
                </a:solidFill>
                <a:latin typeface="Segoe UI"/>
              </a:rPr>
              <a:t>“tức ngực khó thở vã mồ hôi”</a:t>
            </a:r>
          </a:p>
        </p:txBody>
      </p:sp>
      <p:sp>
        <p:nvSpPr>
          <p:cNvPr id="14" name="TextBox 13"/>
          <p:cNvSpPr txBox="1"/>
          <p:nvPr/>
        </p:nvSpPr>
        <p:spPr>
          <a:xfrm>
            <a:off x="795528" y="5120640"/>
            <a:ext cx="3108960" cy="868680"/>
          </a:xfrm>
          <a:prstGeom prst="rect">
            <a:avLst/>
          </a:prstGeom>
          <a:noFill/>
        </p:spPr>
        <p:txBody>
          <a:bodyPr wrap="square" lIns="0" rIns="0" tIns="0" bIns="0" anchor="t">
            <a:spAutoFit/>
          </a:bodyPr>
          <a:lstStyle/>
          <a:p>
            <a:pPr algn="l"/>
            <a:r>
              <a:rPr sz="1400" b="1" i="0">
                <a:solidFill>
                  <a:srgbClr val="1F2D26"/>
                </a:solidFill>
                <a:latin typeface="Segoe UI"/>
              </a:rPr>
              <a:t>ATS 2, nghi hội chứng mạch vành cấp: gọi 115</a:t>
            </a:r>
          </a:p>
        </p:txBody>
      </p:sp>
      <p:sp>
        <p:nvSpPr>
          <p:cNvPr id="15" name="Rounded Rectangle 14"/>
          <p:cNvSpPr/>
          <p:nvPr/>
        </p:nvSpPr>
        <p:spPr>
          <a:xfrm>
            <a:off x="4407408" y="1775764"/>
            <a:ext cx="3520440" cy="4343400"/>
          </a:xfrm>
          <a:prstGeom prst="roundRect">
            <a:avLst>
              <a:gd name="adj" fmla="val 5194"/>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34256" y="1691640"/>
            <a:ext cx="3520440" cy="4343400"/>
          </a:xfrm>
          <a:prstGeom prst="roundRect">
            <a:avLst>
              <a:gd name="adj" fmla="val 5194"/>
            </a:avLst>
          </a:prstGeom>
          <a:solidFill>
            <a:srgbClr val="FFFFFF"/>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17136" y="1874519"/>
            <a:ext cx="3154680" cy="1975104"/>
          </a:xfrm>
          <a:prstGeom prst="roundRect">
            <a:avLst>
              <a:gd name="adj" fmla="val 3703"/>
            </a:avLst>
          </a:prstGeom>
          <a:solidFill>
            <a:srgbClr val="F6FCF9"/>
          </a:solidFill>
          <a:ln w="19050">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03-tu-van-ai.png"/>
          <p:cNvPicPr>
            <a:picLocks noChangeAspect="1"/>
          </p:cNvPicPr>
          <p:nvPr/>
        </p:nvPicPr>
        <p:blipFill>
          <a:blip r:embed="rId3"/>
          <a:stretch>
            <a:fillRect/>
          </a:stretch>
        </p:blipFill>
        <p:spPr>
          <a:xfrm>
            <a:off x="4517136" y="1874519"/>
            <a:ext cx="3154680" cy="1971446"/>
          </a:xfrm>
          <a:prstGeom prst="rect">
            <a:avLst/>
          </a:prstGeom>
        </p:spPr>
      </p:pic>
      <p:sp>
        <p:nvSpPr>
          <p:cNvPr id="19" name="Rounded Rectangle 18"/>
          <p:cNvSpPr/>
          <p:nvPr/>
        </p:nvSpPr>
        <p:spPr>
          <a:xfrm>
            <a:off x="4517136" y="1874519"/>
            <a:ext cx="3154680" cy="1975104"/>
          </a:xfrm>
          <a:prstGeom prst="roundRect">
            <a:avLst>
              <a:gd name="adj" fmla="val 3703"/>
            </a:avLst>
          </a:prstGeom>
          <a:noFill/>
          <a:ln w="19050">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17136" y="3886200"/>
            <a:ext cx="3154680" cy="228600"/>
          </a:xfrm>
          <a:prstGeom prst="rect">
            <a:avLst/>
          </a:prstGeom>
          <a:noFill/>
        </p:spPr>
        <p:txBody>
          <a:bodyPr wrap="square" lIns="0" rIns="0" tIns="0" bIns="0" anchor="t">
            <a:spAutoFit/>
          </a:bodyPr>
          <a:lstStyle/>
          <a:p>
            <a:pPr algn="l"/>
            <a:r>
              <a:rPr sz="1000" b="0" i="1">
                <a:solidFill>
                  <a:srgbClr val="5A6E64"/>
                </a:solidFill>
                <a:latin typeface="Segoe UI"/>
              </a:rPr>
              <a:t>Khung tư vấn AI</a:t>
            </a:r>
          </a:p>
        </p:txBody>
      </p:sp>
      <p:sp>
        <p:nvSpPr>
          <p:cNvPr id="21" name="Rounded Rectangle 20"/>
          <p:cNvSpPr/>
          <p:nvPr/>
        </p:nvSpPr>
        <p:spPr>
          <a:xfrm>
            <a:off x="4562856" y="4206240"/>
            <a:ext cx="1554480" cy="329184"/>
          </a:xfrm>
          <a:prstGeom prst="roundRect">
            <a:avLst>
              <a:gd name="adj" fmla="val 50000"/>
            </a:avLst>
          </a:prstGeom>
          <a:solidFill>
            <a:srgbClr val="D9EFE2"/>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62856" y="4206240"/>
            <a:ext cx="1554480" cy="329184"/>
          </a:xfrm>
          <a:prstGeom prst="rect">
            <a:avLst/>
          </a:prstGeom>
          <a:noFill/>
        </p:spPr>
        <p:txBody>
          <a:bodyPr wrap="square" lIns="0" rIns="0" tIns="0" bIns="0" anchor="ctr">
            <a:spAutoFit/>
          </a:bodyPr>
          <a:lstStyle/>
          <a:p>
            <a:pPr algn="ctr"/>
            <a:r>
              <a:rPr sz="1300" b="0" i="0">
                <a:solidFill>
                  <a:srgbClr val="285C45"/>
                </a:solidFill>
                <a:latin typeface="FC Baby Doll"/>
              </a:rPr>
              <a:t>ĐIỀU HƯỚNG</a:t>
            </a:r>
          </a:p>
        </p:txBody>
      </p:sp>
      <p:sp>
        <p:nvSpPr>
          <p:cNvPr id="23" name="TextBox 22"/>
          <p:cNvSpPr txBox="1"/>
          <p:nvPr/>
        </p:nvSpPr>
        <p:spPr>
          <a:xfrm>
            <a:off x="4562856" y="4617720"/>
            <a:ext cx="3108960" cy="457200"/>
          </a:xfrm>
          <a:prstGeom prst="rect">
            <a:avLst/>
          </a:prstGeom>
          <a:noFill/>
        </p:spPr>
        <p:txBody>
          <a:bodyPr wrap="square" lIns="0" rIns="0" tIns="0" bIns="0" anchor="t">
            <a:spAutoFit/>
          </a:bodyPr>
          <a:lstStyle/>
          <a:p>
            <a:pPr algn="l"/>
            <a:r>
              <a:rPr sz="1300" b="0" i="1">
                <a:solidFill>
                  <a:srgbClr val="1F2D26"/>
                </a:solidFill>
                <a:latin typeface="Segoe UI"/>
              </a:rPr>
              <a:t>“Đau khớp gối, gần Long Biên?”</a:t>
            </a:r>
          </a:p>
        </p:txBody>
      </p:sp>
      <p:sp>
        <p:nvSpPr>
          <p:cNvPr id="24" name="TextBox 23"/>
          <p:cNvSpPr txBox="1"/>
          <p:nvPr/>
        </p:nvSpPr>
        <p:spPr>
          <a:xfrm>
            <a:off x="4562856" y="5120640"/>
            <a:ext cx="3108960" cy="868680"/>
          </a:xfrm>
          <a:prstGeom prst="rect">
            <a:avLst/>
          </a:prstGeom>
          <a:noFill/>
        </p:spPr>
        <p:txBody>
          <a:bodyPr wrap="square" lIns="0" rIns="0" tIns="0" bIns="0" anchor="t">
            <a:spAutoFit/>
          </a:bodyPr>
          <a:lstStyle/>
          <a:p>
            <a:pPr algn="l"/>
            <a:r>
              <a:rPr sz="1400" b="1" i="0">
                <a:solidFill>
                  <a:srgbClr val="1F2D26"/>
                </a:solidFill>
                <a:latin typeface="Segoe UI"/>
              </a:rPr>
              <a:t>Chấn thương chỉnh hình, Vinmec Riverside, hỏi thêm 1 câu</a:t>
            </a:r>
          </a:p>
        </p:txBody>
      </p:sp>
      <p:sp>
        <p:nvSpPr>
          <p:cNvPr id="25" name="Rounded Rectangle 24"/>
          <p:cNvSpPr/>
          <p:nvPr/>
        </p:nvSpPr>
        <p:spPr>
          <a:xfrm>
            <a:off x="8174736" y="1775764"/>
            <a:ext cx="3520440" cy="4343400"/>
          </a:xfrm>
          <a:prstGeom prst="roundRect">
            <a:avLst>
              <a:gd name="adj" fmla="val 5194"/>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101583" y="1691640"/>
            <a:ext cx="3520440" cy="4343400"/>
          </a:xfrm>
          <a:prstGeom prst="roundRect">
            <a:avLst>
              <a:gd name="adj" fmla="val 5194"/>
            </a:avLst>
          </a:prstGeom>
          <a:solidFill>
            <a:srgbClr val="FFFFFF"/>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284463" y="1874519"/>
            <a:ext cx="3154680" cy="1975104"/>
          </a:xfrm>
          <a:prstGeom prst="roundRect">
            <a:avLst>
              <a:gd name="adj" fmla="val 3703"/>
            </a:avLst>
          </a:prstGeom>
          <a:solidFill>
            <a:srgbClr val="F6FCF9"/>
          </a:solidFill>
          <a:ln w="19050">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02-tim-bac-si.png"/>
          <p:cNvPicPr>
            <a:picLocks noChangeAspect="1"/>
          </p:cNvPicPr>
          <p:nvPr/>
        </p:nvPicPr>
        <p:blipFill>
          <a:blip r:embed="rId4"/>
          <a:stretch>
            <a:fillRect/>
          </a:stretch>
        </p:blipFill>
        <p:spPr>
          <a:xfrm>
            <a:off x="8284463" y="1874519"/>
            <a:ext cx="3154680" cy="1971446"/>
          </a:xfrm>
          <a:prstGeom prst="rect">
            <a:avLst/>
          </a:prstGeom>
        </p:spPr>
      </p:pic>
      <p:sp>
        <p:nvSpPr>
          <p:cNvPr id="29" name="Rounded Rectangle 28"/>
          <p:cNvSpPr/>
          <p:nvPr/>
        </p:nvSpPr>
        <p:spPr>
          <a:xfrm>
            <a:off x="8284463" y="1874519"/>
            <a:ext cx="3154680" cy="1975104"/>
          </a:xfrm>
          <a:prstGeom prst="roundRect">
            <a:avLst>
              <a:gd name="adj" fmla="val 3703"/>
            </a:avLst>
          </a:prstGeom>
          <a:noFill/>
          <a:ln w="19050">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84463" y="3886200"/>
            <a:ext cx="3154680" cy="228600"/>
          </a:xfrm>
          <a:prstGeom prst="rect">
            <a:avLst/>
          </a:prstGeom>
          <a:noFill/>
        </p:spPr>
        <p:txBody>
          <a:bodyPr wrap="square" lIns="0" rIns="0" tIns="0" bIns="0" anchor="t">
            <a:spAutoFit/>
          </a:bodyPr>
          <a:lstStyle/>
          <a:p>
            <a:pPr algn="l"/>
            <a:r>
              <a:rPr sz="1000" b="0" i="1">
                <a:solidFill>
                  <a:srgbClr val="5A6E64"/>
                </a:solidFill>
                <a:latin typeface="Segoe UI"/>
              </a:rPr>
              <a:t>Trang tìm bác sĩ</a:t>
            </a:r>
          </a:p>
        </p:txBody>
      </p:sp>
      <p:sp>
        <p:nvSpPr>
          <p:cNvPr id="31" name="Rounded Rectangle 30"/>
          <p:cNvSpPr/>
          <p:nvPr/>
        </p:nvSpPr>
        <p:spPr>
          <a:xfrm>
            <a:off x="8330183" y="4206240"/>
            <a:ext cx="1554480" cy="329184"/>
          </a:xfrm>
          <a:prstGeom prst="roundRect">
            <a:avLst>
              <a:gd name="adj" fmla="val 50000"/>
            </a:avLst>
          </a:prstGeom>
          <a:solidFill>
            <a:srgbClr val="D9EFE2"/>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30183" y="4206240"/>
            <a:ext cx="1554480" cy="329184"/>
          </a:xfrm>
          <a:prstGeom prst="rect">
            <a:avLst/>
          </a:prstGeom>
          <a:noFill/>
        </p:spPr>
        <p:txBody>
          <a:bodyPr wrap="square" lIns="0" rIns="0" tIns="0" bIns="0" anchor="ctr">
            <a:spAutoFit/>
          </a:bodyPr>
          <a:lstStyle/>
          <a:p>
            <a:pPr algn="ctr"/>
            <a:r>
              <a:rPr sz="1300" b="0" i="0">
                <a:solidFill>
                  <a:srgbClr val="285C45"/>
                </a:solidFill>
                <a:latin typeface="FC Baby Doll"/>
              </a:rPr>
              <a:t>ĐẶT LỊCH</a:t>
            </a:r>
          </a:p>
        </p:txBody>
      </p:sp>
      <p:sp>
        <p:nvSpPr>
          <p:cNvPr id="33" name="TextBox 32"/>
          <p:cNvSpPr txBox="1"/>
          <p:nvPr/>
        </p:nvSpPr>
        <p:spPr>
          <a:xfrm>
            <a:off x="8330183" y="4617720"/>
            <a:ext cx="3108960" cy="457200"/>
          </a:xfrm>
          <a:prstGeom prst="rect">
            <a:avLst/>
          </a:prstGeom>
          <a:noFill/>
        </p:spPr>
        <p:txBody>
          <a:bodyPr wrap="square" lIns="0" rIns="0" tIns="0" bIns="0" anchor="t">
            <a:spAutoFit/>
          </a:bodyPr>
          <a:lstStyle/>
          <a:p>
            <a:pPr algn="l"/>
            <a:r>
              <a:rPr sz="1300" b="0" i="1">
                <a:solidFill>
                  <a:srgbClr val="1F2D26"/>
                </a:solidFill>
                <a:latin typeface="Segoe UI"/>
              </a:rPr>
              <a:t>“Đăng ký khám qua chat”</a:t>
            </a:r>
          </a:p>
        </p:txBody>
      </p:sp>
      <p:sp>
        <p:nvSpPr>
          <p:cNvPr id="34" name="TextBox 33"/>
          <p:cNvSpPr txBox="1"/>
          <p:nvPr/>
        </p:nvSpPr>
        <p:spPr>
          <a:xfrm>
            <a:off x="8330183" y="5120640"/>
            <a:ext cx="3108960" cy="868680"/>
          </a:xfrm>
          <a:prstGeom prst="rect">
            <a:avLst/>
          </a:prstGeom>
          <a:noFill/>
        </p:spPr>
        <p:txBody>
          <a:bodyPr wrap="square" lIns="0" rIns="0" tIns="0" bIns="0" anchor="t">
            <a:spAutoFit/>
          </a:bodyPr>
          <a:lstStyle/>
          <a:p>
            <a:pPr algn="l"/>
            <a:r>
              <a:rPr sz="1400" b="1" i="0">
                <a:solidFill>
                  <a:srgbClr val="1F2D26"/>
                </a:solidFill>
                <a:latin typeface="Segoe UI"/>
              </a:rPr>
              <a:t>Tạo yêu cầu, chờ điều phối viên xác nhận</a:t>
            </a:r>
          </a:p>
        </p:txBody>
      </p:sp>
      <p:cxnSp>
        <p:nvCxnSpPr>
          <p:cNvPr id="35" name="Connector 34"/>
          <p:cNvCxnSpPr/>
          <p:nvPr/>
        </p:nvCxnSpPr>
        <p:spPr>
          <a:xfrm>
            <a:off x="566928" y="6291072"/>
            <a:ext cx="11055096" cy="0"/>
          </a:xfrm>
          <a:prstGeom prst="line">
            <a:avLst/>
          </a:prstGeom>
          <a:ln w="22225">
            <a:solidFill>
              <a:srgbClr val="BD5F57"/>
            </a:solidFill>
            <a:prstDash val="dash"/>
          </a:ln>
        </p:spPr>
        <p:style>
          <a:lnRef idx="2">
            <a:schemeClr val="accent1"/>
          </a:lnRef>
          <a:fillRef idx="0">
            <a:schemeClr val="accent1"/>
          </a:fillRef>
          <a:effectRef idx="1">
            <a:schemeClr val="accent1"/>
          </a:effectRef>
          <a:fontRef idx="minor">
            <a:schemeClr val="tx1"/>
          </a:fontRef>
        </p:style>
      </p:cxnSp>
      <p:pic>
        <p:nvPicPr>
          <p:cNvPr id="36" name="Picture 35" descr="s2_Image5.png"/>
          <p:cNvPicPr>
            <a:picLocks noChangeAspect="1"/>
          </p:cNvPicPr>
          <p:nvPr/>
        </p:nvPicPr>
        <p:blipFill>
          <a:blip r:embed="rId5"/>
          <a:stretch>
            <a:fillRect/>
          </a:stretch>
        </p:blipFill>
        <p:spPr>
          <a:xfrm>
            <a:off x="566928" y="6364224"/>
            <a:ext cx="384048" cy="377172"/>
          </a:xfrm>
          <a:prstGeom prst="rect">
            <a:avLst/>
          </a:prstGeom>
        </p:spPr>
      </p:pic>
      <p:sp>
        <p:nvSpPr>
          <p:cNvPr id="37" name="TextBox 36"/>
          <p:cNvSpPr txBox="1"/>
          <p:nvPr/>
        </p:nvSpPr>
        <p:spPr>
          <a:xfrm>
            <a:off x="1060704" y="6400800"/>
            <a:ext cx="8961120" cy="274320"/>
          </a:xfrm>
          <a:prstGeom prst="rect">
            <a:avLst/>
          </a:prstGeom>
          <a:noFill/>
        </p:spPr>
        <p:txBody>
          <a:bodyPr wrap="square" lIns="0" rIns="0" tIns="0" bIns="0" anchor="ctr">
            <a:spAutoFit/>
          </a:bodyPr>
          <a:lstStyle/>
          <a:p>
            <a:pPr algn="l"/>
            <a:r>
              <a:rPr sz="1100" b="0" i="0">
                <a:solidFill>
                  <a:srgbClr val="5A6E64"/>
                </a:solidFill>
                <a:latin typeface="Segoe UI"/>
              </a:rPr>
              <a:t>Dùng thử: c4-app-t124.vercel.app</a:t>
            </a:r>
          </a:p>
        </p:txBody>
      </p:sp>
      <p:sp>
        <p:nvSpPr>
          <p:cNvPr id="38" name="TextBox 37"/>
          <p:cNvSpPr txBox="1"/>
          <p:nvPr/>
        </p:nvSpPr>
        <p:spPr>
          <a:xfrm>
            <a:off x="10607040" y="6400800"/>
            <a:ext cx="1014984" cy="274320"/>
          </a:xfrm>
          <a:prstGeom prst="rect">
            <a:avLst/>
          </a:prstGeom>
          <a:noFill/>
        </p:spPr>
        <p:txBody>
          <a:bodyPr wrap="square" lIns="0" rIns="0" tIns="0" bIns="0" anchor="ctr">
            <a:spAutoFit/>
          </a:bodyPr>
          <a:lstStyle/>
          <a:p>
            <a:pPr algn="r"/>
            <a:r>
              <a:rPr sz="1200" b="0" i="0">
                <a:solidFill>
                  <a:srgbClr val="5A6E64"/>
                </a:solidFill>
                <a:latin typeface="FC Baby Doll"/>
              </a:rPr>
              <a:t>04 / 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CF9"/>
        </a:solidFill>
        <a:effectLst/>
      </p:bgPr>
    </p:bg>
    <p:spTree>
      <p:nvGrpSpPr>
        <p:cNvPr id="1" name=""/>
        <p:cNvGrpSpPr/>
        <p:nvPr/>
      </p:nvGrpSpPr>
      <p:grpSpPr/>
      <p:sp>
        <p:nvSpPr>
          <p:cNvPr id="2" name="Rounded Rectangle 1"/>
          <p:cNvSpPr/>
          <p:nvPr/>
        </p:nvSpPr>
        <p:spPr>
          <a:xfrm>
            <a:off x="566928" y="384048"/>
            <a:ext cx="1463040" cy="347472"/>
          </a:xfrm>
          <a:prstGeom prst="roundRect">
            <a:avLst>
              <a:gd name="adj" fmla="val 50000"/>
            </a:avLst>
          </a:prstGeom>
          <a:solidFill>
            <a:srgbClr val="FFFFFF"/>
          </a:solidFill>
          <a:ln w="28575">
            <a:solidFill>
              <a:srgbClr val="BD5F5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463040" cy="347472"/>
          </a:xfrm>
          <a:prstGeom prst="rect">
            <a:avLst/>
          </a:prstGeom>
          <a:noFill/>
        </p:spPr>
        <p:txBody>
          <a:bodyPr wrap="square" lIns="0" rIns="0" tIns="0" bIns="0" anchor="ctr">
            <a:spAutoFit/>
          </a:bodyPr>
          <a:lstStyle/>
          <a:p>
            <a:pPr algn="ctr"/>
            <a:r>
              <a:rPr sz="1400" b="0" i="0">
                <a:solidFill>
                  <a:srgbClr val="285C45"/>
                </a:solidFill>
                <a:latin typeface="FC Baby Doll"/>
              </a:rPr>
              <a:t>KIẾN TRÚC</a:t>
            </a:r>
          </a:p>
        </p:txBody>
      </p:sp>
      <p:sp>
        <p:nvSpPr>
          <p:cNvPr id="4" name="TextBox 3"/>
          <p:cNvSpPr txBox="1"/>
          <p:nvPr/>
        </p:nvSpPr>
        <p:spPr>
          <a:xfrm>
            <a:off x="566928" y="841248"/>
            <a:ext cx="10241280" cy="731520"/>
          </a:xfrm>
          <a:prstGeom prst="rect">
            <a:avLst/>
          </a:prstGeom>
          <a:noFill/>
        </p:spPr>
        <p:txBody>
          <a:bodyPr wrap="square" lIns="0" rIns="0" tIns="0" bIns="0" anchor="t">
            <a:spAutoFit/>
          </a:bodyPr>
          <a:lstStyle/>
          <a:p>
            <a:pPr algn="l"/>
            <a:r>
              <a:rPr sz="3800" b="0" i="0">
                <a:solidFill>
                  <a:srgbClr val="285C45"/>
                </a:solidFill>
                <a:latin typeface="FC Baby Doll"/>
              </a:rPr>
              <a:t>An toàn chạy trước, LLM chạy sau</a:t>
            </a:r>
          </a:p>
        </p:txBody>
      </p:sp>
      <p:sp>
        <p:nvSpPr>
          <p:cNvPr id="5" name="Rounded Rectangle 4"/>
          <p:cNvSpPr/>
          <p:nvPr/>
        </p:nvSpPr>
        <p:spPr>
          <a:xfrm>
            <a:off x="640080" y="1912924"/>
            <a:ext cx="3291840" cy="2834640"/>
          </a:xfrm>
          <a:prstGeom prst="roundRect">
            <a:avLst>
              <a:gd name="adj" fmla="val 7096"/>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828800"/>
            <a:ext cx="3291840" cy="2834640"/>
          </a:xfrm>
          <a:prstGeom prst="roundRect">
            <a:avLst>
              <a:gd name="adj" fmla="val 7096"/>
            </a:avLst>
          </a:prstGeom>
          <a:solidFill>
            <a:srgbClr val="F8E4E2"/>
          </a:solidFill>
          <a:ln w="28575">
            <a:solidFill>
              <a:srgbClr val="BD5F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057400"/>
            <a:ext cx="1371600" cy="1005840"/>
          </a:xfrm>
          <a:prstGeom prst="rect">
            <a:avLst/>
          </a:prstGeom>
          <a:noFill/>
        </p:spPr>
        <p:txBody>
          <a:bodyPr wrap="square" lIns="0" rIns="0" tIns="0" bIns="0" anchor="ctr">
            <a:spAutoFit/>
          </a:bodyPr>
          <a:lstStyle/>
          <a:p>
            <a:pPr algn="l"/>
            <a:r>
              <a:rPr sz="6000" b="0" i="0">
                <a:solidFill>
                  <a:srgbClr val="7A2F2A"/>
                </a:solidFill>
                <a:latin typeface="FC Baby Doll"/>
              </a:rPr>
              <a:t>1</a:t>
            </a:r>
          </a:p>
        </p:txBody>
      </p:sp>
      <p:sp>
        <p:nvSpPr>
          <p:cNvPr id="8" name="TextBox 7"/>
          <p:cNvSpPr txBox="1"/>
          <p:nvPr/>
        </p:nvSpPr>
        <p:spPr>
          <a:xfrm>
            <a:off x="932688" y="3200400"/>
            <a:ext cx="2651760" cy="548640"/>
          </a:xfrm>
          <a:prstGeom prst="rect">
            <a:avLst/>
          </a:prstGeom>
          <a:noFill/>
        </p:spPr>
        <p:txBody>
          <a:bodyPr wrap="square" lIns="0" rIns="0" tIns="0" bIns="0" anchor="t">
            <a:spAutoFit/>
          </a:bodyPr>
          <a:lstStyle/>
          <a:p>
            <a:pPr algn="l"/>
            <a:r>
              <a:rPr sz="2600" b="0" i="0">
                <a:solidFill>
                  <a:srgbClr val="1F2D26"/>
                </a:solidFill>
                <a:latin typeface="FC Baby Doll"/>
              </a:rPr>
              <a:t>Tầng an toàn</a:t>
            </a:r>
          </a:p>
        </p:txBody>
      </p:sp>
      <p:sp>
        <p:nvSpPr>
          <p:cNvPr id="9" name="TextBox 8"/>
          <p:cNvSpPr txBox="1"/>
          <p:nvPr/>
        </p:nvSpPr>
        <p:spPr>
          <a:xfrm>
            <a:off x="932688" y="3749039"/>
            <a:ext cx="2651760" cy="822960"/>
          </a:xfrm>
          <a:prstGeom prst="rect">
            <a:avLst/>
          </a:prstGeom>
          <a:noFill/>
        </p:spPr>
        <p:txBody>
          <a:bodyPr wrap="square" lIns="0" rIns="0" tIns="0" bIns="0" anchor="t">
            <a:spAutoFit/>
          </a:bodyPr>
          <a:lstStyle/>
          <a:p>
            <a:pPr algn="l"/>
            <a:r>
              <a:rPr sz="1500" b="0" i="0">
                <a:solidFill>
                  <a:srgbClr val="1F2D26"/>
                </a:solidFill>
                <a:latin typeface="Segoe UI"/>
              </a:rPr>
              <a:t>Chạy trước LLM. Cấp cứu: 0 token.</a:t>
            </a:r>
          </a:p>
        </p:txBody>
      </p:sp>
      <p:sp>
        <p:nvSpPr>
          <p:cNvPr id="10" name="TextBox 9"/>
          <p:cNvSpPr txBox="1"/>
          <p:nvPr/>
        </p:nvSpPr>
        <p:spPr>
          <a:xfrm>
            <a:off x="3858768" y="2926080"/>
            <a:ext cx="594360" cy="548640"/>
          </a:xfrm>
          <a:prstGeom prst="rect">
            <a:avLst/>
          </a:prstGeom>
          <a:noFill/>
        </p:spPr>
        <p:txBody>
          <a:bodyPr wrap="square" lIns="0" rIns="0" tIns="0" bIns="0" anchor="ctr">
            <a:spAutoFit/>
          </a:bodyPr>
          <a:lstStyle/>
          <a:p>
            <a:pPr algn="ctr"/>
            <a:r>
              <a:rPr sz="3400" b="0" i="0">
                <a:solidFill>
                  <a:srgbClr val="BD5F57"/>
                </a:solidFill>
                <a:latin typeface="FC Baby Doll"/>
              </a:rPr>
              <a:t>→</a:t>
            </a:r>
          </a:p>
        </p:txBody>
      </p:sp>
      <p:sp>
        <p:nvSpPr>
          <p:cNvPr id="11" name="Rounded Rectangle 10"/>
          <p:cNvSpPr/>
          <p:nvPr/>
        </p:nvSpPr>
        <p:spPr>
          <a:xfrm>
            <a:off x="4526280" y="1912924"/>
            <a:ext cx="3291840" cy="2834640"/>
          </a:xfrm>
          <a:prstGeom prst="roundRect">
            <a:avLst>
              <a:gd name="adj" fmla="val 7096"/>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453128" y="1828800"/>
            <a:ext cx="3291840" cy="2834640"/>
          </a:xfrm>
          <a:prstGeom prst="roundRect">
            <a:avLst>
              <a:gd name="adj" fmla="val 7096"/>
            </a:avLst>
          </a:prstGeom>
          <a:solidFill>
            <a:srgbClr val="FFFFFF"/>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18888" y="2057400"/>
            <a:ext cx="1371600" cy="1005840"/>
          </a:xfrm>
          <a:prstGeom prst="rect">
            <a:avLst/>
          </a:prstGeom>
          <a:noFill/>
        </p:spPr>
        <p:txBody>
          <a:bodyPr wrap="square" lIns="0" rIns="0" tIns="0" bIns="0" anchor="ctr">
            <a:spAutoFit/>
          </a:bodyPr>
          <a:lstStyle/>
          <a:p>
            <a:pPr algn="l"/>
            <a:r>
              <a:rPr sz="6000" b="0" i="0">
                <a:solidFill>
                  <a:srgbClr val="285C45"/>
                </a:solidFill>
                <a:latin typeface="FC Baby Doll"/>
              </a:rPr>
              <a:t>2</a:t>
            </a:r>
          </a:p>
        </p:txBody>
      </p:sp>
      <p:sp>
        <p:nvSpPr>
          <p:cNvPr id="14" name="TextBox 13"/>
          <p:cNvSpPr txBox="1"/>
          <p:nvPr/>
        </p:nvSpPr>
        <p:spPr>
          <a:xfrm>
            <a:off x="4818888" y="3200400"/>
            <a:ext cx="2651760" cy="548640"/>
          </a:xfrm>
          <a:prstGeom prst="rect">
            <a:avLst/>
          </a:prstGeom>
          <a:noFill/>
        </p:spPr>
        <p:txBody>
          <a:bodyPr wrap="square" lIns="0" rIns="0" tIns="0" bIns="0" anchor="t">
            <a:spAutoFit/>
          </a:bodyPr>
          <a:lstStyle/>
          <a:p>
            <a:pPr algn="l"/>
            <a:r>
              <a:rPr sz="2600" b="0" i="0">
                <a:solidFill>
                  <a:srgbClr val="1F2D26"/>
                </a:solidFill>
                <a:latin typeface="FC Baby Doll"/>
              </a:rPr>
              <a:t>AI tư vấn</a:t>
            </a:r>
          </a:p>
        </p:txBody>
      </p:sp>
      <p:sp>
        <p:nvSpPr>
          <p:cNvPr id="15" name="TextBox 14"/>
          <p:cNvSpPr txBox="1"/>
          <p:nvPr/>
        </p:nvSpPr>
        <p:spPr>
          <a:xfrm>
            <a:off x="4818888" y="3749039"/>
            <a:ext cx="2651760" cy="822960"/>
          </a:xfrm>
          <a:prstGeom prst="rect">
            <a:avLst/>
          </a:prstGeom>
          <a:noFill/>
        </p:spPr>
        <p:txBody>
          <a:bodyPr wrap="square" lIns="0" rIns="0" tIns="0" bIns="0" anchor="t">
            <a:spAutoFit/>
          </a:bodyPr>
          <a:lstStyle/>
          <a:p>
            <a:pPr algn="l"/>
            <a:r>
              <a:rPr sz="1500" b="0" i="0">
                <a:solidFill>
                  <a:srgbClr val="5A6E64"/>
                </a:solidFill>
                <a:latin typeface="Segoe UI"/>
              </a:rPr>
              <a:t>Hỏi triệu chứng, tìm bác sĩ, tự phản biện.</a:t>
            </a:r>
          </a:p>
        </p:txBody>
      </p:sp>
      <p:sp>
        <p:nvSpPr>
          <p:cNvPr id="16" name="TextBox 15"/>
          <p:cNvSpPr txBox="1"/>
          <p:nvPr/>
        </p:nvSpPr>
        <p:spPr>
          <a:xfrm>
            <a:off x="7744968" y="2926080"/>
            <a:ext cx="594360" cy="548640"/>
          </a:xfrm>
          <a:prstGeom prst="rect">
            <a:avLst/>
          </a:prstGeom>
          <a:noFill/>
        </p:spPr>
        <p:txBody>
          <a:bodyPr wrap="square" lIns="0" rIns="0" tIns="0" bIns="0" anchor="ctr">
            <a:spAutoFit/>
          </a:bodyPr>
          <a:lstStyle/>
          <a:p>
            <a:pPr algn="ctr"/>
            <a:r>
              <a:rPr sz="3400" b="0" i="0">
                <a:solidFill>
                  <a:srgbClr val="285C45"/>
                </a:solidFill>
                <a:latin typeface="FC Baby Doll"/>
              </a:rPr>
              <a:t>→</a:t>
            </a:r>
          </a:p>
        </p:txBody>
      </p:sp>
      <p:sp>
        <p:nvSpPr>
          <p:cNvPr id="17" name="Rounded Rectangle 16"/>
          <p:cNvSpPr/>
          <p:nvPr/>
        </p:nvSpPr>
        <p:spPr>
          <a:xfrm>
            <a:off x="8412480" y="1912924"/>
            <a:ext cx="3291840" cy="2834640"/>
          </a:xfrm>
          <a:prstGeom prst="roundRect">
            <a:avLst>
              <a:gd name="adj" fmla="val 7096"/>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339327" y="1828800"/>
            <a:ext cx="3291840" cy="2834640"/>
          </a:xfrm>
          <a:prstGeom prst="roundRect">
            <a:avLst>
              <a:gd name="adj" fmla="val 7096"/>
            </a:avLst>
          </a:prstGeom>
          <a:solidFill>
            <a:srgbClr val="FFFFFF"/>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05088" y="2057400"/>
            <a:ext cx="1371600" cy="1005840"/>
          </a:xfrm>
          <a:prstGeom prst="rect">
            <a:avLst/>
          </a:prstGeom>
          <a:noFill/>
        </p:spPr>
        <p:txBody>
          <a:bodyPr wrap="square" lIns="0" rIns="0" tIns="0" bIns="0" anchor="ctr">
            <a:spAutoFit/>
          </a:bodyPr>
          <a:lstStyle/>
          <a:p>
            <a:pPr algn="l"/>
            <a:r>
              <a:rPr sz="6000" b="0" i="0">
                <a:solidFill>
                  <a:srgbClr val="285C45"/>
                </a:solidFill>
                <a:latin typeface="FC Baby Doll"/>
              </a:rPr>
              <a:t>3</a:t>
            </a:r>
          </a:p>
        </p:txBody>
      </p:sp>
      <p:sp>
        <p:nvSpPr>
          <p:cNvPr id="20" name="TextBox 19"/>
          <p:cNvSpPr txBox="1"/>
          <p:nvPr/>
        </p:nvSpPr>
        <p:spPr>
          <a:xfrm>
            <a:off x="8705088" y="3200400"/>
            <a:ext cx="2651760" cy="548640"/>
          </a:xfrm>
          <a:prstGeom prst="rect">
            <a:avLst/>
          </a:prstGeom>
          <a:noFill/>
        </p:spPr>
        <p:txBody>
          <a:bodyPr wrap="square" lIns="0" rIns="0" tIns="0" bIns="0" anchor="t">
            <a:spAutoFit/>
          </a:bodyPr>
          <a:lstStyle/>
          <a:p>
            <a:pPr algn="l"/>
            <a:r>
              <a:rPr sz="2600" b="0" i="0">
                <a:solidFill>
                  <a:srgbClr val="1F2D26"/>
                </a:solidFill>
                <a:latin typeface="FC Baby Doll"/>
              </a:rPr>
              <a:t>Dữ liệu thật</a:t>
            </a:r>
          </a:p>
        </p:txBody>
      </p:sp>
      <p:sp>
        <p:nvSpPr>
          <p:cNvPr id="21" name="TextBox 20"/>
          <p:cNvSpPr txBox="1"/>
          <p:nvPr/>
        </p:nvSpPr>
        <p:spPr>
          <a:xfrm>
            <a:off x="8705088" y="3749039"/>
            <a:ext cx="2651760" cy="822960"/>
          </a:xfrm>
          <a:prstGeom prst="rect">
            <a:avLst/>
          </a:prstGeom>
          <a:noFill/>
        </p:spPr>
        <p:txBody>
          <a:bodyPr wrap="square" lIns="0" rIns="0" tIns="0" bIns="0" anchor="t">
            <a:spAutoFit/>
          </a:bodyPr>
          <a:lstStyle/>
          <a:p>
            <a:pPr algn="l"/>
            <a:r>
              <a:rPr sz="1500" b="0" i="0">
                <a:solidFill>
                  <a:srgbClr val="5A6E64"/>
                </a:solidFill>
                <a:latin typeface="Segoe UI"/>
              </a:rPr>
              <a:t>992 bác sĩ · 36 cơ sở.</a:t>
            </a:r>
          </a:p>
        </p:txBody>
      </p:sp>
      <p:sp>
        <p:nvSpPr>
          <p:cNvPr id="22" name="TextBox 21"/>
          <p:cNvSpPr txBox="1"/>
          <p:nvPr/>
        </p:nvSpPr>
        <p:spPr>
          <a:xfrm>
            <a:off x="566928" y="5166360"/>
            <a:ext cx="11064240" cy="457200"/>
          </a:xfrm>
          <a:prstGeom prst="rect">
            <a:avLst/>
          </a:prstGeom>
          <a:noFill/>
        </p:spPr>
        <p:txBody>
          <a:bodyPr wrap="square" lIns="0" rIns="0" tIns="0" bIns="0" anchor="t">
            <a:spAutoFit/>
          </a:bodyPr>
          <a:lstStyle/>
          <a:p>
            <a:pPr algn="ctr"/>
            <a:r>
              <a:rPr sz="1400" b="0" i="0">
                <a:solidFill>
                  <a:srgbClr val="5A6E64"/>
                </a:solidFill>
                <a:latin typeface="FC Baby Doll"/>
              </a:rPr>
              <a:t>FastAPI · Supabase · LangGraph · ChromaDB + SQLite FTS5 · DeepSeek</a:t>
            </a:r>
          </a:p>
        </p:txBody>
      </p:sp>
      <p:cxnSp>
        <p:nvCxnSpPr>
          <p:cNvPr id="23" name="Connector 22"/>
          <p:cNvCxnSpPr/>
          <p:nvPr/>
        </p:nvCxnSpPr>
        <p:spPr>
          <a:xfrm>
            <a:off x="566928" y="6291072"/>
            <a:ext cx="11055096" cy="0"/>
          </a:xfrm>
          <a:prstGeom prst="line">
            <a:avLst/>
          </a:prstGeom>
          <a:ln w="22225">
            <a:solidFill>
              <a:srgbClr val="BD5F57"/>
            </a:solidFill>
            <a:prstDash val="dash"/>
          </a:ln>
        </p:spPr>
        <p:style>
          <a:lnRef idx="2">
            <a:schemeClr val="accent1"/>
          </a:lnRef>
          <a:fillRef idx="0">
            <a:schemeClr val="accent1"/>
          </a:fillRef>
          <a:effectRef idx="1">
            <a:schemeClr val="accent1"/>
          </a:effectRef>
          <a:fontRef idx="minor">
            <a:schemeClr val="tx1"/>
          </a:fontRef>
        </p:style>
      </p:cxnSp>
      <p:pic>
        <p:nvPicPr>
          <p:cNvPr id="24" name="Picture 23" descr="s2_Image5.png"/>
          <p:cNvPicPr>
            <a:picLocks noChangeAspect="1"/>
          </p:cNvPicPr>
          <p:nvPr/>
        </p:nvPicPr>
        <p:blipFill>
          <a:blip r:embed="rId2"/>
          <a:stretch>
            <a:fillRect/>
          </a:stretch>
        </p:blipFill>
        <p:spPr>
          <a:xfrm>
            <a:off x="566928" y="6364224"/>
            <a:ext cx="384048" cy="377172"/>
          </a:xfrm>
          <a:prstGeom prst="rect">
            <a:avLst/>
          </a:prstGeom>
        </p:spPr>
      </p:pic>
      <p:sp>
        <p:nvSpPr>
          <p:cNvPr id="25" name="TextBox 24"/>
          <p:cNvSpPr txBox="1"/>
          <p:nvPr/>
        </p:nvSpPr>
        <p:spPr>
          <a:xfrm>
            <a:off x="1060704" y="6400800"/>
            <a:ext cx="8961120" cy="274320"/>
          </a:xfrm>
          <a:prstGeom prst="rect">
            <a:avLst/>
          </a:prstGeom>
          <a:noFill/>
        </p:spPr>
        <p:txBody>
          <a:bodyPr wrap="square" lIns="0" rIns="0" tIns="0" bIns="0" anchor="ctr">
            <a:spAutoFit/>
          </a:bodyPr>
          <a:lstStyle/>
          <a:p>
            <a:pPr algn="l"/>
            <a:r>
              <a:rPr sz="1100" b="0" i="0">
                <a:solidFill>
                  <a:srgbClr val="5A6E64"/>
                </a:solidFill>
                <a:latin typeface="Segoe UI"/>
              </a:rPr>
              <a:t>VCare+ · Team P-124 · AI20K Build Phase</a:t>
            </a:r>
          </a:p>
        </p:txBody>
      </p:sp>
      <p:sp>
        <p:nvSpPr>
          <p:cNvPr id="26" name="TextBox 25"/>
          <p:cNvSpPr txBox="1"/>
          <p:nvPr/>
        </p:nvSpPr>
        <p:spPr>
          <a:xfrm>
            <a:off x="10607040" y="6400800"/>
            <a:ext cx="1014984" cy="274320"/>
          </a:xfrm>
          <a:prstGeom prst="rect">
            <a:avLst/>
          </a:prstGeom>
          <a:noFill/>
        </p:spPr>
        <p:txBody>
          <a:bodyPr wrap="square" lIns="0" rIns="0" tIns="0" bIns="0" anchor="ctr">
            <a:spAutoFit/>
          </a:bodyPr>
          <a:lstStyle/>
          <a:p>
            <a:pPr algn="r"/>
            <a:r>
              <a:rPr sz="1200" b="0" i="0">
                <a:solidFill>
                  <a:srgbClr val="5A6E64"/>
                </a:solidFill>
                <a:latin typeface="FC Baby Doll"/>
              </a:rPr>
              <a:t>05 / 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CF9"/>
        </a:solidFill>
        <a:effectLst/>
      </p:bgPr>
    </p:bg>
    <p:spTree>
      <p:nvGrpSpPr>
        <p:cNvPr id="1" name=""/>
        <p:cNvGrpSpPr/>
        <p:nvPr/>
      </p:nvGrpSpPr>
      <p:grpSpPr/>
      <p:sp>
        <p:nvSpPr>
          <p:cNvPr id="2" name="Rounded Rectangle 1"/>
          <p:cNvSpPr/>
          <p:nvPr/>
        </p:nvSpPr>
        <p:spPr>
          <a:xfrm>
            <a:off x="566928" y="384048"/>
            <a:ext cx="2455164" cy="347472"/>
          </a:xfrm>
          <a:prstGeom prst="roundRect">
            <a:avLst>
              <a:gd name="adj" fmla="val 50000"/>
            </a:avLst>
          </a:prstGeom>
          <a:solidFill>
            <a:srgbClr val="FFFFFF"/>
          </a:solidFill>
          <a:ln w="28575">
            <a:solidFill>
              <a:srgbClr val="BD5F5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2455164" cy="347472"/>
          </a:xfrm>
          <a:prstGeom prst="rect">
            <a:avLst/>
          </a:prstGeom>
          <a:noFill/>
        </p:spPr>
        <p:txBody>
          <a:bodyPr wrap="square" lIns="0" rIns="0" tIns="0" bIns="0" anchor="ctr">
            <a:spAutoFit/>
          </a:bodyPr>
          <a:lstStyle/>
          <a:p>
            <a:pPr algn="ctr"/>
            <a:r>
              <a:rPr sz="1400" b="0" i="0">
                <a:solidFill>
                  <a:srgbClr val="285C45"/>
                </a:solidFill>
                <a:latin typeface="FC Baby Doll"/>
              </a:rPr>
              <a:t>DỮ LIỆU &amp; CÔNG NGHỆ</a:t>
            </a:r>
          </a:p>
        </p:txBody>
      </p:sp>
      <p:sp>
        <p:nvSpPr>
          <p:cNvPr id="4" name="TextBox 3"/>
          <p:cNvSpPr txBox="1"/>
          <p:nvPr/>
        </p:nvSpPr>
        <p:spPr>
          <a:xfrm>
            <a:off x="566928" y="841248"/>
            <a:ext cx="10241280" cy="731520"/>
          </a:xfrm>
          <a:prstGeom prst="rect">
            <a:avLst/>
          </a:prstGeom>
          <a:noFill/>
        </p:spPr>
        <p:txBody>
          <a:bodyPr wrap="square" lIns="0" rIns="0" tIns="0" bIns="0" anchor="t">
            <a:spAutoFit/>
          </a:bodyPr>
          <a:lstStyle/>
          <a:p>
            <a:pPr algn="l"/>
            <a:r>
              <a:rPr sz="3800" b="0" i="0">
                <a:solidFill>
                  <a:srgbClr val="285C45"/>
                </a:solidFill>
                <a:latin typeface="FC Baby Doll"/>
              </a:rPr>
              <a:t>Dữ liệu thật, đếm trực tiếp</a:t>
            </a:r>
          </a:p>
        </p:txBody>
      </p:sp>
      <p:sp>
        <p:nvSpPr>
          <p:cNvPr id="5" name="Rounded Rectangle 4"/>
          <p:cNvSpPr/>
          <p:nvPr/>
        </p:nvSpPr>
        <p:spPr>
          <a:xfrm>
            <a:off x="640080" y="1867204"/>
            <a:ext cx="3520440" cy="3063240"/>
          </a:xfrm>
          <a:prstGeom prst="roundRect">
            <a:avLst>
              <a:gd name="adj" fmla="val 6567"/>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783080"/>
            <a:ext cx="3520440" cy="3063240"/>
          </a:xfrm>
          <a:prstGeom prst="roundRect">
            <a:avLst>
              <a:gd name="adj" fmla="val 6567"/>
            </a:avLst>
          </a:prstGeom>
          <a:solidFill>
            <a:srgbClr val="FFFFFF"/>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2926080" cy="1188720"/>
          </a:xfrm>
          <a:prstGeom prst="rect">
            <a:avLst/>
          </a:prstGeom>
          <a:noFill/>
        </p:spPr>
        <p:txBody>
          <a:bodyPr wrap="square" lIns="0" rIns="0" tIns="0" bIns="0" anchor="ctr">
            <a:spAutoFit/>
          </a:bodyPr>
          <a:lstStyle/>
          <a:p>
            <a:pPr algn="l"/>
            <a:r>
              <a:rPr sz="6000" b="0" i="0">
                <a:solidFill>
                  <a:srgbClr val="285C45"/>
                </a:solidFill>
                <a:latin typeface="FC Baby Doll"/>
              </a:rPr>
              <a:t>992</a:t>
            </a:r>
          </a:p>
        </p:txBody>
      </p:sp>
      <p:sp>
        <p:nvSpPr>
          <p:cNvPr id="8" name="Rounded Rectangle 7"/>
          <p:cNvSpPr/>
          <p:nvPr/>
        </p:nvSpPr>
        <p:spPr>
          <a:xfrm>
            <a:off x="886968" y="3401568"/>
            <a:ext cx="1005840" cy="54864"/>
          </a:xfrm>
          <a:prstGeom prst="roundRect">
            <a:avLst>
              <a:gd name="adj" fmla="val 50000"/>
            </a:avLst>
          </a:prstGeom>
          <a:solidFill>
            <a:srgbClr val="BD5F57"/>
          </a:solidFill>
          <a:ln w="28575">
            <a:solidFill>
              <a:srgbClr val="BD5F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3611880"/>
            <a:ext cx="2926080" cy="731520"/>
          </a:xfrm>
          <a:prstGeom prst="rect">
            <a:avLst/>
          </a:prstGeom>
          <a:noFill/>
        </p:spPr>
        <p:txBody>
          <a:bodyPr wrap="square" lIns="0" rIns="0" tIns="0" bIns="0" anchor="t">
            <a:spAutoFit/>
          </a:bodyPr>
          <a:lstStyle/>
          <a:p>
            <a:pPr algn="l">
              <a:lnSpc>
                <a:spcPct val="100000"/>
              </a:lnSpc>
            </a:pPr>
            <a:r>
              <a:rPr sz="2200" b="0" i="0">
                <a:solidFill>
                  <a:srgbClr val="1F2D26"/>
                </a:solidFill>
                <a:latin typeface="FC Baby Doll"/>
              </a:rPr>
              <a:t>hồ sơ bác sĩ</a:t>
            </a:r>
          </a:p>
        </p:txBody>
      </p:sp>
      <p:sp>
        <p:nvSpPr>
          <p:cNvPr id="10" name="TextBox 9"/>
          <p:cNvSpPr txBox="1"/>
          <p:nvPr/>
        </p:nvSpPr>
        <p:spPr>
          <a:xfrm>
            <a:off x="886968" y="4297680"/>
            <a:ext cx="2926080" cy="457200"/>
          </a:xfrm>
          <a:prstGeom prst="rect">
            <a:avLst/>
          </a:prstGeom>
          <a:noFill/>
        </p:spPr>
        <p:txBody>
          <a:bodyPr wrap="square" lIns="0" rIns="0" tIns="0" bIns="0" anchor="t">
            <a:spAutoFit/>
          </a:bodyPr>
          <a:lstStyle/>
          <a:p>
            <a:pPr algn="l"/>
            <a:r>
              <a:rPr sz="1300" b="0" i="0">
                <a:solidFill>
                  <a:srgbClr val="5A6E64"/>
                </a:solidFill>
                <a:latin typeface="Segoe UI"/>
              </a:rPr>
              <a:t>36 cơ sở · 131 chuyên khoa</a:t>
            </a:r>
          </a:p>
        </p:txBody>
      </p:sp>
      <p:sp>
        <p:nvSpPr>
          <p:cNvPr id="11" name="Rounded Rectangle 10"/>
          <p:cNvSpPr/>
          <p:nvPr/>
        </p:nvSpPr>
        <p:spPr>
          <a:xfrm>
            <a:off x="4407408" y="1867204"/>
            <a:ext cx="3520440" cy="3063240"/>
          </a:xfrm>
          <a:prstGeom prst="roundRect">
            <a:avLst>
              <a:gd name="adj" fmla="val 6567"/>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34256" y="1783080"/>
            <a:ext cx="3520440" cy="3063240"/>
          </a:xfrm>
          <a:prstGeom prst="roundRect">
            <a:avLst>
              <a:gd name="adj" fmla="val 6567"/>
            </a:avLst>
          </a:prstGeom>
          <a:solidFill>
            <a:srgbClr val="D9EFE2"/>
          </a:solidFill>
          <a:ln w="28575">
            <a:solidFill>
              <a:srgbClr val="285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54296" y="2103120"/>
            <a:ext cx="2926080" cy="1188720"/>
          </a:xfrm>
          <a:prstGeom prst="rect">
            <a:avLst/>
          </a:prstGeom>
          <a:noFill/>
        </p:spPr>
        <p:txBody>
          <a:bodyPr wrap="square" lIns="0" rIns="0" tIns="0" bIns="0" anchor="ctr">
            <a:spAutoFit/>
          </a:bodyPr>
          <a:lstStyle/>
          <a:p>
            <a:pPr algn="l"/>
            <a:r>
              <a:rPr sz="6000" b="0" i="0">
                <a:solidFill>
                  <a:srgbClr val="285C45"/>
                </a:solidFill>
                <a:latin typeface="FC Baby Doll"/>
              </a:rPr>
              <a:t>741</a:t>
            </a:r>
          </a:p>
        </p:txBody>
      </p:sp>
      <p:sp>
        <p:nvSpPr>
          <p:cNvPr id="14" name="Rounded Rectangle 13"/>
          <p:cNvSpPr/>
          <p:nvPr/>
        </p:nvSpPr>
        <p:spPr>
          <a:xfrm>
            <a:off x="4654296" y="3401568"/>
            <a:ext cx="1005840" cy="54864"/>
          </a:xfrm>
          <a:prstGeom prst="roundRect">
            <a:avLst>
              <a:gd name="adj" fmla="val 50000"/>
            </a:avLst>
          </a:prstGeom>
          <a:solidFill>
            <a:srgbClr val="BD5F57"/>
          </a:solidFill>
          <a:ln w="28575">
            <a:solidFill>
              <a:srgbClr val="BD5F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54296" y="3611880"/>
            <a:ext cx="2926080" cy="731520"/>
          </a:xfrm>
          <a:prstGeom prst="rect">
            <a:avLst/>
          </a:prstGeom>
          <a:noFill/>
        </p:spPr>
        <p:txBody>
          <a:bodyPr wrap="square" lIns="0" rIns="0" tIns="0" bIns="0" anchor="t">
            <a:spAutoFit/>
          </a:bodyPr>
          <a:lstStyle/>
          <a:p>
            <a:pPr algn="l">
              <a:lnSpc>
                <a:spcPct val="100000"/>
              </a:lnSpc>
            </a:pPr>
            <a:r>
              <a:rPr sz="2200" b="0" i="0">
                <a:solidFill>
                  <a:srgbClr val="1F2D26"/>
                </a:solidFill>
                <a:latin typeface="FC Baby Doll"/>
              </a:rPr>
              <a:t>bệnh có mức ATS</a:t>
            </a:r>
          </a:p>
        </p:txBody>
      </p:sp>
      <p:sp>
        <p:nvSpPr>
          <p:cNvPr id="16" name="TextBox 15"/>
          <p:cNvSpPr txBox="1"/>
          <p:nvPr/>
        </p:nvSpPr>
        <p:spPr>
          <a:xfrm>
            <a:off x="4654296" y="4297680"/>
            <a:ext cx="2926080" cy="457200"/>
          </a:xfrm>
          <a:prstGeom prst="rect">
            <a:avLst/>
          </a:prstGeom>
          <a:noFill/>
        </p:spPr>
        <p:txBody>
          <a:bodyPr wrap="square" lIns="0" rIns="0" tIns="0" bIns="0" anchor="t">
            <a:spAutoFit/>
          </a:bodyPr>
          <a:lstStyle/>
          <a:p>
            <a:pPr algn="l"/>
            <a:r>
              <a:rPr sz="1300" b="0" i="0">
                <a:solidFill>
                  <a:srgbClr val="1F2D26"/>
                </a:solidFill>
                <a:latin typeface="Segoe UI"/>
              </a:rPr>
              <a:t>Mỗi bệnh gắn mức khẩn cấp</a:t>
            </a:r>
          </a:p>
        </p:txBody>
      </p:sp>
      <p:sp>
        <p:nvSpPr>
          <p:cNvPr id="17" name="Rounded Rectangle 16"/>
          <p:cNvSpPr/>
          <p:nvPr/>
        </p:nvSpPr>
        <p:spPr>
          <a:xfrm>
            <a:off x="8174736" y="1867204"/>
            <a:ext cx="3520440" cy="3063240"/>
          </a:xfrm>
          <a:prstGeom prst="roundRect">
            <a:avLst>
              <a:gd name="adj" fmla="val 6567"/>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01583" y="1783080"/>
            <a:ext cx="3520440" cy="3063240"/>
          </a:xfrm>
          <a:prstGeom prst="roundRect">
            <a:avLst>
              <a:gd name="adj" fmla="val 6567"/>
            </a:avLst>
          </a:prstGeom>
          <a:solidFill>
            <a:srgbClr val="FFFFFF"/>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21624" y="2103120"/>
            <a:ext cx="2926080" cy="1188720"/>
          </a:xfrm>
          <a:prstGeom prst="rect">
            <a:avLst/>
          </a:prstGeom>
          <a:noFill/>
        </p:spPr>
        <p:txBody>
          <a:bodyPr wrap="square" lIns="0" rIns="0" tIns="0" bIns="0" anchor="ctr">
            <a:spAutoFit/>
          </a:bodyPr>
          <a:lstStyle/>
          <a:p>
            <a:pPr algn="l"/>
            <a:r>
              <a:rPr sz="6000" b="0" i="0">
                <a:solidFill>
                  <a:srgbClr val="285C45"/>
                </a:solidFill>
                <a:latin typeface="FC Baby Doll"/>
              </a:rPr>
              <a:t>5.993</a:t>
            </a:r>
          </a:p>
        </p:txBody>
      </p:sp>
      <p:sp>
        <p:nvSpPr>
          <p:cNvPr id="20" name="Rounded Rectangle 19"/>
          <p:cNvSpPr/>
          <p:nvPr/>
        </p:nvSpPr>
        <p:spPr>
          <a:xfrm>
            <a:off x="8421624" y="3401568"/>
            <a:ext cx="1005840" cy="54864"/>
          </a:xfrm>
          <a:prstGeom prst="roundRect">
            <a:avLst>
              <a:gd name="adj" fmla="val 50000"/>
            </a:avLst>
          </a:prstGeom>
          <a:solidFill>
            <a:srgbClr val="BD5F57"/>
          </a:solidFill>
          <a:ln w="28575">
            <a:solidFill>
              <a:srgbClr val="BD5F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21624" y="3611880"/>
            <a:ext cx="2926080" cy="731520"/>
          </a:xfrm>
          <a:prstGeom prst="rect">
            <a:avLst/>
          </a:prstGeom>
          <a:noFill/>
        </p:spPr>
        <p:txBody>
          <a:bodyPr wrap="square" lIns="0" rIns="0" tIns="0" bIns="0" anchor="t">
            <a:spAutoFit/>
          </a:bodyPr>
          <a:lstStyle/>
          <a:p>
            <a:pPr algn="l">
              <a:lnSpc>
                <a:spcPct val="100000"/>
              </a:lnSpc>
            </a:pPr>
            <a:r>
              <a:rPr sz="2200" b="0" i="0">
                <a:solidFill>
                  <a:srgbClr val="1F2D26"/>
                </a:solidFill>
                <a:latin typeface="FC Baby Doll"/>
              </a:rPr>
              <a:t>đoạn tài liệu cho RAG</a:t>
            </a:r>
          </a:p>
        </p:txBody>
      </p:sp>
      <p:sp>
        <p:nvSpPr>
          <p:cNvPr id="22" name="TextBox 21"/>
          <p:cNvSpPr txBox="1"/>
          <p:nvPr/>
        </p:nvSpPr>
        <p:spPr>
          <a:xfrm>
            <a:off x="8421624" y="4297680"/>
            <a:ext cx="2926080" cy="457200"/>
          </a:xfrm>
          <a:prstGeom prst="rect">
            <a:avLst/>
          </a:prstGeom>
          <a:noFill/>
        </p:spPr>
        <p:txBody>
          <a:bodyPr wrap="square" lIns="0" rIns="0" tIns="0" bIns="0" anchor="t">
            <a:spAutoFit/>
          </a:bodyPr>
          <a:lstStyle/>
          <a:p>
            <a:pPr algn="l"/>
            <a:r>
              <a:rPr sz="1300" b="0" i="0">
                <a:solidFill>
                  <a:srgbClr val="5A6E64"/>
                </a:solidFill>
                <a:latin typeface="Segoe UI"/>
              </a:rPr>
              <a:t>ChromaDB + SQLite FTS5</a:t>
            </a:r>
          </a:p>
        </p:txBody>
      </p:sp>
      <p:sp>
        <p:nvSpPr>
          <p:cNvPr id="23" name="Rounded Rectangle 22"/>
          <p:cNvSpPr/>
          <p:nvPr/>
        </p:nvSpPr>
        <p:spPr>
          <a:xfrm>
            <a:off x="612648" y="5218938"/>
            <a:ext cx="11064240" cy="777240"/>
          </a:xfrm>
          <a:prstGeom prst="roundRect">
            <a:avLst>
              <a:gd name="adj" fmla="val 29411"/>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66928" y="5166360"/>
            <a:ext cx="11064240" cy="777240"/>
          </a:xfrm>
          <a:prstGeom prst="roundRect">
            <a:avLst>
              <a:gd name="adj" fmla="val 29411"/>
            </a:avLst>
          </a:prstGeom>
          <a:solidFill>
            <a:srgbClr val="FFFFFF"/>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166360"/>
            <a:ext cx="10424160" cy="777240"/>
          </a:xfrm>
          <a:prstGeom prst="rect">
            <a:avLst/>
          </a:prstGeom>
          <a:noFill/>
        </p:spPr>
        <p:txBody>
          <a:bodyPr wrap="square" lIns="0" rIns="0" tIns="0" bIns="0" anchor="ctr">
            <a:spAutoFit/>
          </a:bodyPr>
          <a:lstStyle/>
          <a:p>
            <a:pPr algn="l"/>
            <a:r>
              <a:rPr sz="2000" b="0" i="0">
                <a:solidFill>
                  <a:srgbClr val="1F2D26"/>
                </a:solidFill>
                <a:latin typeface="FC Baby Doll"/>
              </a:rPr>
              <a:t>React 19 · FastAPI · LangGraph · Supabase</a:t>
            </a:r>
          </a:p>
        </p:txBody>
      </p:sp>
      <p:cxnSp>
        <p:nvCxnSpPr>
          <p:cNvPr id="26" name="Connector 25"/>
          <p:cNvCxnSpPr/>
          <p:nvPr/>
        </p:nvCxnSpPr>
        <p:spPr>
          <a:xfrm>
            <a:off x="566928" y="6291072"/>
            <a:ext cx="11055096" cy="0"/>
          </a:xfrm>
          <a:prstGeom prst="line">
            <a:avLst/>
          </a:prstGeom>
          <a:ln w="22225">
            <a:solidFill>
              <a:srgbClr val="BD5F57"/>
            </a:solidFill>
            <a:prstDash val="dash"/>
          </a:ln>
        </p:spPr>
        <p:style>
          <a:lnRef idx="2">
            <a:schemeClr val="accent1"/>
          </a:lnRef>
          <a:fillRef idx="0">
            <a:schemeClr val="accent1"/>
          </a:fillRef>
          <a:effectRef idx="1">
            <a:schemeClr val="accent1"/>
          </a:effectRef>
          <a:fontRef idx="minor">
            <a:schemeClr val="tx1"/>
          </a:fontRef>
        </p:style>
      </p:cxnSp>
      <p:pic>
        <p:nvPicPr>
          <p:cNvPr id="27" name="Picture 26" descr="s2_Image5.png"/>
          <p:cNvPicPr>
            <a:picLocks noChangeAspect="1"/>
          </p:cNvPicPr>
          <p:nvPr/>
        </p:nvPicPr>
        <p:blipFill>
          <a:blip r:embed="rId2"/>
          <a:stretch>
            <a:fillRect/>
          </a:stretch>
        </p:blipFill>
        <p:spPr>
          <a:xfrm>
            <a:off x="566928" y="6364224"/>
            <a:ext cx="384048" cy="377172"/>
          </a:xfrm>
          <a:prstGeom prst="rect">
            <a:avLst/>
          </a:prstGeom>
        </p:spPr>
      </p:pic>
      <p:sp>
        <p:nvSpPr>
          <p:cNvPr id="28" name="TextBox 27"/>
          <p:cNvSpPr txBox="1"/>
          <p:nvPr/>
        </p:nvSpPr>
        <p:spPr>
          <a:xfrm>
            <a:off x="1060704" y="6400800"/>
            <a:ext cx="8961120" cy="274320"/>
          </a:xfrm>
          <a:prstGeom prst="rect">
            <a:avLst/>
          </a:prstGeom>
          <a:noFill/>
        </p:spPr>
        <p:txBody>
          <a:bodyPr wrap="square" lIns="0" rIns="0" tIns="0" bIns="0" anchor="ctr">
            <a:spAutoFit/>
          </a:bodyPr>
          <a:lstStyle/>
          <a:p>
            <a:pPr algn="l"/>
            <a:r>
              <a:rPr sz="1100" b="0" i="0">
                <a:solidFill>
                  <a:srgbClr val="5A6E64"/>
                </a:solidFill>
                <a:latin typeface="Segoe UI"/>
              </a:rPr>
              <a:t>Prototype học thuật dùng dữ liệu công khai của Vinmec, không phải sản phẩm chính thức của Vinmec</a:t>
            </a:r>
          </a:p>
        </p:txBody>
      </p:sp>
      <p:sp>
        <p:nvSpPr>
          <p:cNvPr id="29" name="TextBox 28"/>
          <p:cNvSpPr txBox="1"/>
          <p:nvPr/>
        </p:nvSpPr>
        <p:spPr>
          <a:xfrm>
            <a:off x="10607040" y="6400800"/>
            <a:ext cx="1014984" cy="274320"/>
          </a:xfrm>
          <a:prstGeom prst="rect">
            <a:avLst/>
          </a:prstGeom>
          <a:noFill/>
        </p:spPr>
        <p:txBody>
          <a:bodyPr wrap="square" lIns="0" rIns="0" tIns="0" bIns="0" anchor="ctr">
            <a:spAutoFit/>
          </a:bodyPr>
          <a:lstStyle/>
          <a:p>
            <a:pPr algn="r"/>
            <a:r>
              <a:rPr sz="1200" b="0" i="0">
                <a:solidFill>
                  <a:srgbClr val="5A6E64"/>
                </a:solidFill>
                <a:latin typeface="FC Baby Doll"/>
              </a:rPr>
              <a:t>06 / 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CF9"/>
        </a:solidFill>
        <a:effectLst/>
      </p:bgPr>
    </p:bg>
    <p:spTree>
      <p:nvGrpSpPr>
        <p:cNvPr id="1" name=""/>
        <p:cNvGrpSpPr/>
        <p:nvPr/>
      </p:nvGrpSpPr>
      <p:grpSpPr/>
      <p:sp>
        <p:nvSpPr>
          <p:cNvPr id="2" name="Rounded Rectangle 1"/>
          <p:cNvSpPr/>
          <p:nvPr/>
        </p:nvSpPr>
        <p:spPr>
          <a:xfrm>
            <a:off x="566928" y="384048"/>
            <a:ext cx="2034540" cy="347472"/>
          </a:xfrm>
          <a:prstGeom prst="roundRect">
            <a:avLst>
              <a:gd name="adj" fmla="val 50000"/>
            </a:avLst>
          </a:prstGeom>
          <a:solidFill>
            <a:srgbClr val="FFFFFF"/>
          </a:solidFill>
          <a:ln w="28575">
            <a:solidFill>
              <a:srgbClr val="BD5F5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2034540" cy="347472"/>
          </a:xfrm>
          <a:prstGeom prst="rect">
            <a:avLst/>
          </a:prstGeom>
          <a:noFill/>
        </p:spPr>
        <p:txBody>
          <a:bodyPr wrap="square" lIns="0" rIns="0" tIns="0" bIns="0" anchor="ctr">
            <a:spAutoFit/>
          </a:bodyPr>
          <a:lstStyle/>
          <a:p>
            <a:pPr algn="ctr"/>
            <a:r>
              <a:rPr sz="1400" b="0" i="0">
                <a:solidFill>
                  <a:srgbClr val="285C45"/>
                </a:solidFill>
                <a:latin typeface="FC Baby Doll"/>
              </a:rPr>
              <a:t>AN TOÀN CẤP CỨU</a:t>
            </a:r>
          </a:p>
        </p:txBody>
      </p:sp>
      <p:sp>
        <p:nvSpPr>
          <p:cNvPr id="4" name="TextBox 3"/>
          <p:cNvSpPr txBox="1"/>
          <p:nvPr/>
        </p:nvSpPr>
        <p:spPr>
          <a:xfrm>
            <a:off x="566928" y="841248"/>
            <a:ext cx="10241280" cy="731520"/>
          </a:xfrm>
          <a:prstGeom prst="rect">
            <a:avLst/>
          </a:prstGeom>
          <a:noFill/>
        </p:spPr>
        <p:txBody>
          <a:bodyPr wrap="square" lIns="0" rIns="0" tIns="0" bIns="0" anchor="t">
            <a:spAutoFit/>
          </a:bodyPr>
          <a:lstStyle/>
          <a:p>
            <a:pPr algn="l"/>
            <a:r>
              <a:rPr sz="3800" b="0" i="0">
                <a:solidFill>
                  <a:srgbClr val="285C45"/>
                </a:solidFill>
                <a:latin typeface="FC Baby Doll"/>
              </a:rPr>
              <a:t>Chúng tôi đo cả khi kết quả chưa đẹp</a:t>
            </a:r>
          </a:p>
        </p:txBody>
      </p:sp>
      <p:sp>
        <p:nvSpPr>
          <p:cNvPr id="5" name="Rounded Rectangle 4"/>
          <p:cNvSpPr/>
          <p:nvPr/>
        </p:nvSpPr>
        <p:spPr>
          <a:xfrm>
            <a:off x="640080" y="1867204"/>
            <a:ext cx="3520440" cy="3063240"/>
          </a:xfrm>
          <a:prstGeom prst="roundRect">
            <a:avLst>
              <a:gd name="adj" fmla="val 6567"/>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783080"/>
            <a:ext cx="3520440" cy="3063240"/>
          </a:xfrm>
          <a:prstGeom prst="roundRect">
            <a:avLst>
              <a:gd name="adj" fmla="val 6567"/>
            </a:avLst>
          </a:prstGeom>
          <a:solidFill>
            <a:srgbClr val="D9EFE2"/>
          </a:solidFill>
          <a:ln w="28575">
            <a:solidFill>
              <a:srgbClr val="285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2926080" cy="1188720"/>
          </a:xfrm>
          <a:prstGeom prst="rect">
            <a:avLst/>
          </a:prstGeom>
          <a:noFill/>
        </p:spPr>
        <p:txBody>
          <a:bodyPr wrap="square" lIns="0" rIns="0" tIns="0" bIns="0" anchor="ctr">
            <a:spAutoFit/>
          </a:bodyPr>
          <a:lstStyle/>
          <a:p>
            <a:pPr algn="l"/>
            <a:r>
              <a:rPr sz="6000" b="0" i="0">
                <a:solidFill>
                  <a:srgbClr val="285C45"/>
                </a:solidFill>
                <a:latin typeface="FC Baby Doll"/>
              </a:rPr>
              <a:t>93,3%</a:t>
            </a:r>
          </a:p>
        </p:txBody>
      </p:sp>
      <p:sp>
        <p:nvSpPr>
          <p:cNvPr id="8" name="Rounded Rectangle 7"/>
          <p:cNvSpPr/>
          <p:nvPr/>
        </p:nvSpPr>
        <p:spPr>
          <a:xfrm>
            <a:off x="886968" y="3401568"/>
            <a:ext cx="1005840" cy="54864"/>
          </a:xfrm>
          <a:prstGeom prst="roundRect">
            <a:avLst>
              <a:gd name="adj" fmla="val 50000"/>
            </a:avLst>
          </a:prstGeom>
          <a:solidFill>
            <a:srgbClr val="BD5F57"/>
          </a:solidFill>
          <a:ln w="28575">
            <a:solidFill>
              <a:srgbClr val="BD5F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3611880"/>
            <a:ext cx="2926080" cy="731520"/>
          </a:xfrm>
          <a:prstGeom prst="rect">
            <a:avLst/>
          </a:prstGeom>
          <a:noFill/>
        </p:spPr>
        <p:txBody>
          <a:bodyPr wrap="square" lIns="0" rIns="0" tIns="0" bIns="0" anchor="t">
            <a:spAutoFit/>
          </a:bodyPr>
          <a:lstStyle/>
          <a:p>
            <a:pPr algn="l">
              <a:lnSpc>
                <a:spcPct val="100000"/>
              </a:lnSpc>
            </a:pPr>
            <a:r>
              <a:rPr sz="2200" b="0" i="0">
                <a:solidFill>
                  <a:srgbClr val="1F2D26"/>
                </a:solidFill>
                <a:latin typeface="FC Baby Doll"/>
              </a:rPr>
              <a:t>bắt ca cấp cứu</a:t>
            </a:r>
          </a:p>
        </p:txBody>
      </p:sp>
      <p:sp>
        <p:nvSpPr>
          <p:cNvPr id="10" name="TextBox 9"/>
          <p:cNvSpPr txBox="1"/>
          <p:nvPr/>
        </p:nvSpPr>
        <p:spPr>
          <a:xfrm>
            <a:off x="886968" y="4297680"/>
            <a:ext cx="2926080" cy="457200"/>
          </a:xfrm>
          <a:prstGeom prst="rect">
            <a:avLst/>
          </a:prstGeom>
          <a:noFill/>
        </p:spPr>
        <p:txBody>
          <a:bodyPr wrap="square" lIns="0" rIns="0" tIns="0" bIns="0" anchor="t">
            <a:spAutoFit/>
          </a:bodyPr>
          <a:lstStyle/>
          <a:p>
            <a:pPr algn="l"/>
            <a:r>
              <a:rPr sz="1300" b="0" i="0">
                <a:solidFill>
                  <a:srgbClr val="1F2D26"/>
                </a:solidFill>
                <a:latin typeface="Segoe UI"/>
              </a:rPr>
              <a:t>28/30 · bộ ETEK khóa, chạy 1 lần</a:t>
            </a:r>
          </a:p>
        </p:txBody>
      </p:sp>
      <p:sp>
        <p:nvSpPr>
          <p:cNvPr id="11" name="Rounded Rectangle 10"/>
          <p:cNvSpPr/>
          <p:nvPr/>
        </p:nvSpPr>
        <p:spPr>
          <a:xfrm>
            <a:off x="4407408" y="1867204"/>
            <a:ext cx="3520440" cy="3063240"/>
          </a:xfrm>
          <a:prstGeom prst="roundRect">
            <a:avLst>
              <a:gd name="adj" fmla="val 6567"/>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34256" y="1783080"/>
            <a:ext cx="3520440" cy="3063240"/>
          </a:xfrm>
          <a:prstGeom prst="roundRect">
            <a:avLst>
              <a:gd name="adj" fmla="val 6567"/>
            </a:avLst>
          </a:prstGeom>
          <a:solidFill>
            <a:srgbClr val="FFFFFF"/>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54296" y="2103120"/>
            <a:ext cx="2926080" cy="1188720"/>
          </a:xfrm>
          <a:prstGeom prst="rect">
            <a:avLst/>
          </a:prstGeom>
          <a:noFill/>
        </p:spPr>
        <p:txBody>
          <a:bodyPr wrap="square" lIns="0" rIns="0" tIns="0" bIns="0" anchor="ctr">
            <a:spAutoFit/>
          </a:bodyPr>
          <a:lstStyle/>
          <a:p>
            <a:pPr algn="l"/>
            <a:r>
              <a:rPr sz="6000" b="0" i="0">
                <a:solidFill>
                  <a:srgbClr val="285C45"/>
                </a:solidFill>
                <a:latin typeface="FC Baby Doll"/>
              </a:rPr>
              <a:t>100%</a:t>
            </a:r>
          </a:p>
        </p:txBody>
      </p:sp>
      <p:sp>
        <p:nvSpPr>
          <p:cNvPr id="14" name="Rounded Rectangle 13"/>
          <p:cNvSpPr/>
          <p:nvPr/>
        </p:nvSpPr>
        <p:spPr>
          <a:xfrm>
            <a:off x="4654296" y="3401568"/>
            <a:ext cx="1005840" cy="54864"/>
          </a:xfrm>
          <a:prstGeom prst="roundRect">
            <a:avLst>
              <a:gd name="adj" fmla="val 50000"/>
            </a:avLst>
          </a:prstGeom>
          <a:solidFill>
            <a:srgbClr val="BD5F57"/>
          </a:solidFill>
          <a:ln w="28575">
            <a:solidFill>
              <a:srgbClr val="BD5F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54296" y="3611880"/>
            <a:ext cx="2926080" cy="731520"/>
          </a:xfrm>
          <a:prstGeom prst="rect">
            <a:avLst/>
          </a:prstGeom>
          <a:noFill/>
        </p:spPr>
        <p:txBody>
          <a:bodyPr wrap="square" lIns="0" rIns="0" tIns="0" bIns="0" anchor="t">
            <a:spAutoFit/>
          </a:bodyPr>
          <a:lstStyle/>
          <a:p>
            <a:pPr algn="l">
              <a:lnSpc>
                <a:spcPct val="100000"/>
              </a:lnSpc>
            </a:pPr>
            <a:r>
              <a:rPr sz="2200" b="0" i="0">
                <a:solidFill>
                  <a:srgbClr val="1F2D26"/>
                </a:solidFill>
                <a:latin typeface="FC Baby Doll"/>
              </a:rPr>
              <a:t>luật an toàn</a:t>
            </a:r>
          </a:p>
        </p:txBody>
      </p:sp>
      <p:sp>
        <p:nvSpPr>
          <p:cNvPr id="16" name="TextBox 15"/>
          <p:cNvSpPr txBox="1"/>
          <p:nvPr/>
        </p:nvSpPr>
        <p:spPr>
          <a:xfrm>
            <a:off x="4654296" y="4297680"/>
            <a:ext cx="2926080" cy="457200"/>
          </a:xfrm>
          <a:prstGeom prst="rect">
            <a:avLst/>
          </a:prstGeom>
          <a:noFill/>
        </p:spPr>
        <p:txBody>
          <a:bodyPr wrap="square" lIns="0" rIns="0" tIns="0" bIns="0" anchor="t">
            <a:spAutoFit/>
          </a:bodyPr>
          <a:lstStyle/>
          <a:p>
            <a:pPr algn="l"/>
            <a:r>
              <a:rPr sz="1300" b="0" i="0">
                <a:solidFill>
                  <a:srgbClr val="5A6E64"/>
                </a:solidFill>
                <a:latin typeface="Segoe UI"/>
              </a:rPr>
              <a:t>131 ca: gọi 115, không chẩn đoán, không kê đơn</a:t>
            </a:r>
          </a:p>
        </p:txBody>
      </p:sp>
      <p:sp>
        <p:nvSpPr>
          <p:cNvPr id="17" name="Rounded Rectangle 16"/>
          <p:cNvSpPr/>
          <p:nvPr/>
        </p:nvSpPr>
        <p:spPr>
          <a:xfrm>
            <a:off x="8174736" y="1867204"/>
            <a:ext cx="3520440" cy="3063240"/>
          </a:xfrm>
          <a:prstGeom prst="roundRect">
            <a:avLst>
              <a:gd name="adj" fmla="val 6567"/>
            </a:avLst>
          </a:prstGeom>
          <a:solidFill>
            <a:srgbClr val="BD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01583" y="1783080"/>
            <a:ext cx="3520440" cy="3063240"/>
          </a:xfrm>
          <a:prstGeom prst="roundRect">
            <a:avLst>
              <a:gd name="adj" fmla="val 6567"/>
            </a:avLst>
          </a:prstGeom>
          <a:solidFill>
            <a:srgbClr val="F8E4E2"/>
          </a:solidFill>
          <a:ln w="28575">
            <a:solidFill>
              <a:srgbClr val="BD5F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21624" y="2103120"/>
            <a:ext cx="2926080" cy="1188720"/>
          </a:xfrm>
          <a:prstGeom prst="rect">
            <a:avLst/>
          </a:prstGeom>
          <a:noFill/>
        </p:spPr>
        <p:txBody>
          <a:bodyPr wrap="square" lIns="0" rIns="0" tIns="0" bIns="0" anchor="ctr">
            <a:spAutoFit/>
          </a:bodyPr>
          <a:lstStyle/>
          <a:p>
            <a:pPr algn="l"/>
            <a:r>
              <a:rPr sz="6000" b="0" i="0">
                <a:solidFill>
                  <a:srgbClr val="7A2F2A"/>
                </a:solidFill>
                <a:latin typeface="FC Baby Doll"/>
              </a:rPr>
              <a:t>2/30</a:t>
            </a:r>
          </a:p>
        </p:txBody>
      </p:sp>
      <p:sp>
        <p:nvSpPr>
          <p:cNvPr id="20" name="Rounded Rectangle 19"/>
          <p:cNvSpPr/>
          <p:nvPr/>
        </p:nvSpPr>
        <p:spPr>
          <a:xfrm>
            <a:off x="8421624" y="3401568"/>
            <a:ext cx="1005840" cy="54864"/>
          </a:xfrm>
          <a:prstGeom prst="roundRect">
            <a:avLst>
              <a:gd name="adj" fmla="val 50000"/>
            </a:avLst>
          </a:prstGeom>
          <a:solidFill>
            <a:srgbClr val="BD5F57"/>
          </a:solidFill>
          <a:ln w="28575">
            <a:solidFill>
              <a:srgbClr val="BD5F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21624" y="3611880"/>
            <a:ext cx="2926080" cy="731520"/>
          </a:xfrm>
          <a:prstGeom prst="rect">
            <a:avLst/>
          </a:prstGeom>
          <a:noFill/>
        </p:spPr>
        <p:txBody>
          <a:bodyPr wrap="square" lIns="0" rIns="0" tIns="0" bIns="0" anchor="t">
            <a:spAutoFit/>
          </a:bodyPr>
          <a:lstStyle/>
          <a:p>
            <a:pPr algn="l">
              <a:lnSpc>
                <a:spcPct val="100000"/>
              </a:lnSpc>
            </a:pPr>
            <a:r>
              <a:rPr sz="2200" b="0" i="0">
                <a:solidFill>
                  <a:srgbClr val="1F2D26"/>
                </a:solidFill>
                <a:latin typeface="FC Baby Doll"/>
              </a:rPr>
              <a:t>ca cấp cứu bị sót</a:t>
            </a:r>
          </a:p>
        </p:txBody>
      </p:sp>
      <p:sp>
        <p:nvSpPr>
          <p:cNvPr id="22" name="TextBox 21"/>
          <p:cNvSpPr txBox="1"/>
          <p:nvPr/>
        </p:nvSpPr>
        <p:spPr>
          <a:xfrm>
            <a:off x="8421624" y="4297680"/>
            <a:ext cx="2926080" cy="457200"/>
          </a:xfrm>
          <a:prstGeom prst="rect">
            <a:avLst/>
          </a:prstGeom>
          <a:noFill/>
        </p:spPr>
        <p:txBody>
          <a:bodyPr wrap="square" lIns="0" rIns="0" tIns="0" bIns="0" anchor="t">
            <a:spAutoFit/>
          </a:bodyPr>
          <a:lstStyle/>
          <a:p>
            <a:pPr algn="l"/>
            <a:r>
              <a:rPr sz="1300" b="0" i="0">
                <a:solidFill>
                  <a:srgbClr val="1F2D26"/>
                </a:solidFill>
                <a:latin typeface="Segoe UI"/>
              </a:rPr>
              <a:t>Tâm thần, hành vi kích động. Nói rõ, không giấu.</a:t>
            </a:r>
          </a:p>
        </p:txBody>
      </p:sp>
      <p:sp>
        <p:nvSpPr>
          <p:cNvPr id="23" name="Rounded Rectangle 22"/>
          <p:cNvSpPr/>
          <p:nvPr/>
        </p:nvSpPr>
        <p:spPr>
          <a:xfrm>
            <a:off x="612648" y="5218938"/>
            <a:ext cx="11064240" cy="777240"/>
          </a:xfrm>
          <a:prstGeom prst="roundRect">
            <a:avLst>
              <a:gd name="adj" fmla="val 29411"/>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66928" y="5166360"/>
            <a:ext cx="11064240" cy="777240"/>
          </a:xfrm>
          <a:prstGeom prst="roundRect">
            <a:avLst>
              <a:gd name="adj" fmla="val 29411"/>
            </a:avLst>
          </a:prstGeom>
          <a:solidFill>
            <a:srgbClr val="FFFFFF"/>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166360"/>
            <a:ext cx="10424160" cy="777240"/>
          </a:xfrm>
          <a:prstGeom prst="rect">
            <a:avLst/>
          </a:prstGeom>
          <a:noFill/>
        </p:spPr>
        <p:txBody>
          <a:bodyPr wrap="square" lIns="0" rIns="0" tIns="0" bIns="0" anchor="ctr">
            <a:spAutoFit/>
          </a:bodyPr>
          <a:lstStyle/>
          <a:p>
            <a:pPr algn="l"/>
            <a:r>
              <a:rPr sz="2000" b="0" i="0">
                <a:solidFill>
                  <a:srgbClr val="1F2D26"/>
                </a:solidFill>
                <a:latin typeface="FC Baby Doll"/>
              </a:rPr>
              <a:t>ETEK của Bộ Y tế Úc · dưới 100 ca chính thức, chỉ mang tính tham khảo</a:t>
            </a:r>
          </a:p>
        </p:txBody>
      </p:sp>
      <p:cxnSp>
        <p:nvCxnSpPr>
          <p:cNvPr id="26" name="Connector 25"/>
          <p:cNvCxnSpPr/>
          <p:nvPr/>
        </p:nvCxnSpPr>
        <p:spPr>
          <a:xfrm>
            <a:off x="566928" y="6291072"/>
            <a:ext cx="11055096" cy="0"/>
          </a:xfrm>
          <a:prstGeom prst="line">
            <a:avLst/>
          </a:prstGeom>
          <a:ln w="22225">
            <a:solidFill>
              <a:srgbClr val="BD5F57"/>
            </a:solidFill>
            <a:prstDash val="dash"/>
          </a:ln>
        </p:spPr>
        <p:style>
          <a:lnRef idx="2">
            <a:schemeClr val="accent1"/>
          </a:lnRef>
          <a:fillRef idx="0">
            <a:schemeClr val="accent1"/>
          </a:fillRef>
          <a:effectRef idx="1">
            <a:schemeClr val="accent1"/>
          </a:effectRef>
          <a:fontRef idx="minor">
            <a:schemeClr val="tx1"/>
          </a:fontRef>
        </p:style>
      </p:cxnSp>
      <p:pic>
        <p:nvPicPr>
          <p:cNvPr id="27" name="Picture 26" descr="s2_Image5.png"/>
          <p:cNvPicPr>
            <a:picLocks noChangeAspect="1"/>
          </p:cNvPicPr>
          <p:nvPr/>
        </p:nvPicPr>
        <p:blipFill>
          <a:blip r:embed="rId2"/>
          <a:stretch>
            <a:fillRect/>
          </a:stretch>
        </p:blipFill>
        <p:spPr>
          <a:xfrm>
            <a:off x="566928" y="6364224"/>
            <a:ext cx="384048" cy="377172"/>
          </a:xfrm>
          <a:prstGeom prst="rect">
            <a:avLst/>
          </a:prstGeom>
        </p:spPr>
      </p:pic>
      <p:sp>
        <p:nvSpPr>
          <p:cNvPr id="28" name="TextBox 27"/>
          <p:cNvSpPr txBox="1"/>
          <p:nvPr/>
        </p:nvSpPr>
        <p:spPr>
          <a:xfrm>
            <a:off x="1060704" y="6400800"/>
            <a:ext cx="8961120" cy="274320"/>
          </a:xfrm>
          <a:prstGeom prst="rect">
            <a:avLst/>
          </a:prstGeom>
          <a:noFill/>
        </p:spPr>
        <p:txBody>
          <a:bodyPr wrap="square" lIns="0" rIns="0" tIns="0" bIns="0" anchor="ctr">
            <a:spAutoFit/>
          </a:bodyPr>
          <a:lstStyle/>
          <a:p>
            <a:pPr algn="l"/>
            <a:r>
              <a:rPr sz="1100" b="0" i="0">
                <a:solidFill>
                  <a:srgbClr val="5A6E64"/>
                </a:solidFill>
                <a:latin typeface="Segoe UI"/>
              </a:rPr>
              <a:t>Based on Commonwealth of Australia (Department of Health and Aged Care) material, ETEK 2nd ed., CC BY 4.0</a:t>
            </a:r>
          </a:p>
        </p:txBody>
      </p:sp>
      <p:sp>
        <p:nvSpPr>
          <p:cNvPr id="29" name="TextBox 28"/>
          <p:cNvSpPr txBox="1"/>
          <p:nvPr/>
        </p:nvSpPr>
        <p:spPr>
          <a:xfrm>
            <a:off x="10607040" y="6400800"/>
            <a:ext cx="1014984" cy="274320"/>
          </a:xfrm>
          <a:prstGeom prst="rect">
            <a:avLst/>
          </a:prstGeom>
          <a:noFill/>
        </p:spPr>
        <p:txBody>
          <a:bodyPr wrap="square" lIns="0" rIns="0" tIns="0" bIns="0" anchor="ctr">
            <a:spAutoFit/>
          </a:bodyPr>
          <a:lstStyle/>
          <a:p>
            <a:pPr algn="r"/>
            <a:r>
              <a:rPr sz="1200" b="0" i="0">
                <a:solidFill>
                  <a:srgbClr val="5A6E64"/>
                </a:solidFill>
                <a:latin typeface="FC Baby Doll"/>
              </a:rPr>
              <a:t>07 / 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CF9"/>
        </a:solidFill>
        <a:effectLst/>
      </p:bgPr>
    </p:bg>
    <p:spTree>
      <p:nvGrpSpPr>
        <p:cNvPr id="1" name=""/>
        <p:cNvGrpSpPr/>
        <p:nvPr/>
      </p:nvGrpSpPr>
      <p:grpSpPr/>
      <p:sp>
        <p:nvSpPr>
          <p:cNvPr id="2" name="Rounded Rectangle 1"/>
          <p:cNvSpPr/>
          <p:nvPr/>
        </p:nvSpPr>
        <p:spPr>
          <a:xfrm>
            <a:off x="566928" y="384048"/>
            <a:ext cx="3611880" cy="347472"/>
          </a:xfrm>
          <a:prstGeom prst="roundRect">
            <a:avLst>
              <a:gd name="adj" fmla="val 50000"/>
            </a:avLst>
          </a:prstGeom>
          <a:solidFill>
            <a:srgbClr val="FFFFFF"/>
          </a:solidFill>
          <a:ln w="28575">
            <a:solidFill>
              <a:srgbClr val="BD5F5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3611880" cy="347472"/>
          </a:xfrm>
          <a:prstGeom prst="rect">
            <a:avLst/>
          </a:prstGeom>
          <a:noFill/>
        </p:spPr>
        <p:txBody>
          <a:bodyPr wrap="square" lIns="0" rIns="0" tIns="0" bIns="0" anchor="ctr">
            <a:spAutoFit/>
          </a:bodyPr>
          <a:lstStyle/>
          <a:p>
            <a:pPr algn="ctr"/>
            <a:r>
              <a:rPr sz="1400" b="0" i="0">
                <a:solidFill>
                  <a:srgbClr val="285C45"/>
                </a:solidFill>
                <a:latin typeface="FC Baby Doll"/>
              </a:rPr>
              <a:t>KIỂM THỬ · 1.039 CA · LLM THẬT</a:t>
            </a:r>
          </a:p>
        </p:txBody>
      </p:sp>
      <p:sp>
        <p:nvSpPr>
          <p:cNvPr id="4" name="TextBox 3"/>
          <p:cNvSpPr txBox="1"/>
          <p:nvPr/>
        </p:nvSpPr>
        <p:spPr>
          <a:xfrm>
            <a:off x="566928" y="841248"/>
            <a:ext cx="10241280" cy="731520"/>
          </a:xfrm>
          <a:prstGeom prst="rect">
            <a:avLst/>
          </a:prstGeom>
          <a:noFill/>
        </p:spPr>
        <p:txBody>
          <a:bodyPr wrap="square" lIns="0" rIns="0" tIns="0" bIns="0" anchor="t">
            <a:spAutoFit/>
          </a:bodyPr>
          <a:lstStyle/>
          <a:p>
            <a:pPr algn="l"/>
            <a:r>
              <a:rPr sz="3800" b="0" i="0">
                <a:solidFill>
                  <a:srgbClr val="285C45"/>
                </a:solidFill>
                <a:latin typeface="FC Baby Doll"/>
              </a:rPr>
              <a:t>Chất lượng trả lời và giới hạn đã biết</a:t>
            </a:r>
          </a:p>
        </p:txBody>
      </p:sp>
      <p:sp>
        <p:nvSpPr>
          <p:cNvPr id="5" name="Rounded Rectangle 4"/>
          <p:cNvSpPr/>
          <p:nvPr/>
        </p:nvSpPr>
        <p:spPr>
          <a:xfrm>
            <a:off x="640080" y="1867204"/>
            <a:ext cx="3520440" cy="3063240"/>
          </a:xfrm>
          <a:prstGeom prst="roundRect">
            <a:avLst>
              <a:gd name="adj" fmla="val 6567"/>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783080"/>
            <a:ext cx="3520440" cy="3063240"/>
          </a:xfrm>
          <a:prstGeom prst="roundRect">
            <a:avLst>
              <a:gd name="adj" fmla="val 6567"/>
            </a:avLst>
          </a:prstGeom>
          <a:solidFill>
            <a:srgbClr val="D9EFE2"/>
          </a:solidFill>
          <a:ln w="28575">
            <a:solidFill>
              <a:srgbClr val="285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2926080" cy="1188720"/>
          </a:xfrm>
          <a:prstGeom prst="rect">
            <a:avLst/>
          </a:prstGeom>
          <a:noFill/>
        </p:spPr>
        <p:txBody>
          <a:bodyPr wrap="square" lIns="0" rIns="0" tIns="0" bIns="0" anchor="ctr">
            <a:spAutoFit/>
          </a:bodyPr>
          <a:lstStyle/>
          <a:p>
            <a:pPr algn="l"/>
            <a:r>
              <a:rPr sz="6000" b="0" i="0">
                <a:solidFill>
                  <a:srgbClr val="285C45"/>
                </a:solidFill>
                <a:latin typeface="FC Baby Doll"/>
              </a:rPr>
              <a:t>98,8%</a:t>
            </a:r>
          </a:p>
        </p:txBody>
      </p:sp>
      <p:sp>
        <p:nvSpPr>
          <p:cNvPr id="8" name="Rounded Rectangle 7"/>
          <p:cNvSpPr/>
          <p:nvPr/>
        </p:nvSpPr>
        <p:spPr>
          <a:xfrm>
            <a:off x="886968" y="3401568"/>
            <a:ext cx="1005840" cy="54864"/>
          </a:xfrm>
          <a:prstGeom prst="roundRect">
            <a:avLst>
              <a:gd name="adj" fmla="val 50000"/>
            </a:avLst>
          </a:prstGeom>
          <a:solidFill>
            <a:srgbClr val="BD5F57"/>
          </a:solidFill>
          <a:ln w="28575">
            <a:solidFill>
              <a:srgbClr val="BD5F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3611880"/>
            <a:ext cx="2926080" cy="731520"/>
          </a:xfrm>
          <a:prstGeom prst="rect">
            <a:avLst/>
          </a:prstGeom>
          <a:noFill/>
        </p:spPr>
        <p:txBody>
          <a:bodyPr wrap="square" lIns="0" rIns="0" tIns="0" bIns="0" anchor="t">
            <a:spAutoFit/>
          </a:bodyPr>
          <a:lstStyle/>
          <a:p>
            <a:pPr algn="l">
              <a:lnSpc>
                <a:spcPct val="100000"/>
              </a:lnSpc>
            </a:pPr>
            <a:r>
              <a:rPr sz="2200" b="0" i="0">
                <a:solidFill>
                  <a:srgbClr val="1F2D26"/>
                </a:solidFill>
                <a:latin typeface="FC Baby Doll"/>
              </a:rPr>
              <a:t>bắt ca cấp cứu</a:t>
            </a:r>
          </a:p>
        </p:txBody>
      </p:sp>
      <p:sp>
        <p:nvSpPr>
          <p:cNvPr id="10" name="TextBox 9"/>
          <p:cNvSpPr txBox="1"/>
          <p:nvPr/>
        </p:nvSpPr>
        <p:spPr>
          <a:xfrm>
            <a:off x="886968" y="4297680"/>
            <a:ext cx="2926080" cy="457200"/>
          </a:xfrm>
          <a:prstGeom prst="rect">
            <a:avLst/>
          </a:prstGeom>
          <a:noFill/>
        </p:spPr>
        <p:txBody>
          <a:bodyPr wrap="square" lIns="0" rIns="0" tIns="0" bIns="0" anchor="t">
            <a:spAutoFit/>
          </a:bodyPr>
          <a:lstStyle/>
          <a:p>
            <a:pPr algn="l"/>
            <a:r>
              <a:rPr sz="1300" b="0" i="0">
                <a:solidFill>
                  <a:srgbClr val="1F2D26"/>
                </a:solidFill>
                <a:latin typeface="Segoe UI"/>
              </a:rPr>
              <a:t>Chạy LLM thật (DeepSeek), 1.039 ca</a:t>
            </a:r>
          </a:p>
        </p:txBody>
      </p:sp>
      <p:sp>
        <p:nvSpPr>
          <p:cNvPr id="11" name="Rounded Rectangle 10"/>
          <p:cNvSpPr/>
          <p:nvPr/>
        </p:nvSpPr>
        <p:spPr>
          <a:xfrm>
            <a:off x="4407408" y="1867204"/>
            <a:ext cx="3520440" cy="3063240"/>
          </a:xfrm>
          <a:prstGeom prst="roundRect">
            <a:avLst>
              <a:gd name="adj" fmla="val 6567"/>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34256" y="1783080"/>
            <a:ext cx="3520440" cy="3063240"/>
          </a:xfrm>
          <a:prstGeom prst="roundRect">
            <a:avLst>
              <a:gd name="adj" fmla="val 6567"/>
            </a:avLst>
          </a:prstGeom>
          <a:solidFill>
            <a:srgbClr val="FFFFFF"/>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54296" y="2103120"/>
            <a:ext cx="2926080" cy="1188720"/>
          </a:xfrm>
          <a:prstGeom prst="rect">
            <a:avLst/>
          </a:prstGeom>
          <a:noFill/>
        </p:spPr>
        <p:txBody>
          <a:bodyPr wrap="square" lIns="0" rIns="0" tIns="0" bIns="0" anchor="ctr">
            <a:spAutoFit/>
          </a:bodyPr>
          <a:lstStyle/>
          <a:p>
            <a:pPr algn="l"/>
            <a:r>
              <a:rPr sz="6000" b="0" i="0">
                <a:solidFill>
                  <a:srgbClr val="285C45"/>
                </a:solidFill>
                <a:latin typeface="FC Baby Doll"/>
              </a:rPr>
              <a:t>2,9 s</a:t>
            </a:r>
          </a:p>
        </p:txBody>
      </p:sp>
      <p:sp>
        <p:nvSpPr>
          <p:cNvPr id="14" name="Rounded Rectangle 13"/>
          <p:cNvSpPr/>
          <p:nvPr/>
        </p:nvSpPr>
        <p:spPr>
          <a:xfrm>
            <a:off x="4654296" y="3401568"/>
            <a:ext cx="1005840" cy="54864"/>
          </a:xfrm>
          <a:prstGeom prst="roundRect">
            <a:avLst>
              <a:gd name="adj" fmla="val 50000"/>
            </a:avLst>
          </a:prstGeom>
          <a:solidFill>
            <a:srgbClr val="BD5F57"/>
          </a:solidFill>
          <a:ln w="28575">
            <a:solidFill>
              <a:srgbClr val="BD5F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54296" y="3611880"/>
            <a:ext cx="2926080" cy="731520"/>
          </a:xfrm>
          <a:prstGeom prst="rect">
            <a:avLst/>
          </a:prstGeom>
          <a:noFill/>
        </p:spPr>
        <p:txBody>
          <a:bodyPr wrap="square" lIns="0" rIns="0" tIns="0" bIns="0" anchor="t">
            <a:spAutoFit/>
          </a:bodyPr>
          <a:lstStyle/>
          <a:p>
            <a:pPr algn="l">
              <a:lnSpc>
                <a:spcPct val="100000"/>
              </a:lnSpc>
            </a:pPr>
            <a:r>
              <a:rPr sz="2200" b="0" i="0">
                <a:solidFill>
                  <a:srgbClr val="1F2D26"/>
                </a:solidFill>
                <a:latin typeface="FC Baby Doll"/>
              </a:rPr>
              <a:t>phản hồi trung vị</a:t>
            </a:r>
          </a:p>
        </p:txBody>
      </p:sp>
      <p:sp>
        <p:nvSpPr>
          <p:cNvPr id="16" name="TextBox 15"/>
          <p:cNvSpPr txBox="1"/>
          <p:nvPr/>
        </p:nvSpPr>
        <p:spPr>
          <a:xfrm>
            <a:off x="4654296" y="4297680"/>
            <a:ext cx="2926080" cy="457200"/>
          </a:xfrm>
          <a:prstGeom prst="rect">
            <a:avLst/>
          </a:prstGeom>
          <a:noFill/>
        </p:spPr>
        <p:txBody>
          <a:bodyPr wrap="square" lIns="0" rIns="0" tIns="0" bIns="0" anchor="t">
            <a:spAutoFit/>
          </a:bodyPr>
          <a:lstStyle/>
          <a:p>
            <a:pPr algn="l"/>
            <a:r>
              <a:rPr sz="1300" b="0" i="0">
                <a:solidFill>
                  <a:srgbClr val="5A6E64"/>
                </a:solidFill>
                <a:latin typeface="Segoe UI"/>
              </a:rPr>
              <a:t>p95 4,9 s · cổng cấp cứu chỉ ~7 ms</a:t>
            </a:r>
          </a:p>
        </p:txBody>
      </p:sp>
      <p:sp>
        <p:nvSpPr>
          <p:cNvPr id="17" name="Rounded Rectangle 16"/>
          <p:cNvSpPr/>
          <p:nvPr/>
        </p:nvSpPr>
        <p:spPr>
          <a:xfrm>
            <a:off x="8174736" y="1867204"/>
            <a:ext cx="3520440" cy="3063240"/>
          </a:xfrm>
          <a:prstGeom prst="roundRect">
            <a:avLst>
              <a:gd name="adj" fmla="val 6567"/>
            </a:avLst>
          </a:prstGeom>
          <a:solidFill>
            <a:srgbClr val="1F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01583" y="1783080"/>
            <a:ext cx="3520440" cy="3063240"/>
          </a:xfrm>
          <a:prstGeom prst="roundRect">
            <a:avLst>
              <a:gd name="adj" fmla="val 6567"/>
            </a:avLst>
          </a:prstGeom>
          <a:solidFill>
            <a:srgbClr val="FFFFFF"/>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21624" y="2103120"/>
            <a:ext cx="2926080" cy="1188720"/>
          </a:xfrm>
          <a:prstGeom prst="rect">
            <a:avLst/>
          </a:prstGeom>
          <a:noFill/>
        </p:spPr>
        <p:txBody>
          <a:bodyPr wrap="square" lIns="0" rIns="0" tIns="0" bIns="0" anchor="ctr">
            <a:spAutoFit/>
          </a:bodyPr>
          <a:lstStyle/>
          <a:p>
            <a:pPr algn="l"/>
            <a:r>
              <a:rPr sz="6000" b="0" i="0">
                <a:solidFill>
                  <a:srgbClr val="285C45"/>
                </a:solidFill>
                <a:latin typeface="FC Baby Doll"/>
              </a:rPr>
              <a:t>0,70$</a:t>
            </a:r>
          </a:p>
        </p:txBody>
      </p:sp>
      <p:sp>
        <p:nvSpPr>
          <p:cNvPr id="20" name="Rounded Rectangle 19"/>
          <p:cNvSpPr/>
          <p:nvPr/>
        </p:nvSpPr>
        <p:spPr>
          <a:xfrm>
            <a:off x="8421624" y="3401568"/>
            <a:ext cx="1005840" cy="54864"/>
          </a:xfrm>
          <a:prstGeom prst="roundRect">
            <a:avLst>
              <a:gd name="adj" fmla="val 50000"/>
            </a:avLst>
          </a:prstGeom>
          <a:solidFill>
            <a:srgbClr val="BD5F57"/>
          </a:solidFill>
          <a:ln w="28575">
            <a:solidFill>
              <a:srgbClr val="BD5F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21624" y="3611880"/>
            <a:ext cx="2926080" cy="731520"/>
          </a:xfrm>
          <a:prstGeom prst="rect">
            <a:avLst/>
          </a:prstGeom>
          <a:noFill/>
        </p:spPr>
        <p:txBody>
          <a:bodyPr wrap="square" lIns="0" rIns="0" tIns="0" bIns="0" anchor="t">
            <a:spAutoFit/>
          </a:bodyPr>
          <a:lstStyle/>
          <a:p>
            <a:pPr algn="l">
              <a:lnSpc>
                <a:spcPct val="100000"/>
              </a:lnSpc>
            </a:pPr>
            <a:r>
              <a:rPr sz="2200" b="0" i="0">
                <a:solidFill>
                  <a:srgbClr val="1F2D26"/>
                </a:solidFill>
                <a:latin typeface="FC Baby Doll"/>
              </a:rPr>
              <a:t>mỗi 1.000 hội thoại</a:t>
            </a:r>
          </a:p>
        </p:txBody>
      </p:sp>
      <p:sp>
        <p:nvSpPr>
          <p:cNvPr id="22" name="TextBox 21"/>
          <p:cNvSpPr txBox="1"/>
          <p:nvPr/>
        </p:nvSpPr>
        <p:spPr>
          <a:xfrm>
            <a:off x="8421624" y="4297680"/>
            <a:ext cx="2926080" cy="457200"/>
          </a:xfrm>
          <a:prstGeom prst="rect">
            <a:avLst/>
          </a:prstGeom>
          <a:noFill/>
        </p:spPr>
        <p:txBody>
          <a:bodyPr wrap="square" lIns="0" rIns="0" tIns="0" bIns="0" anchor="t">
            <a:spAutoFit/>
          </a:bodyPr>
          <a:lstStyle/>
          <a:p>
            <a:pPr algn="l"/>
            <a:r>
              <a:rPr sz="1300" b="0" i="0">
                <a:solidFill>
                  <a:srgbClr val="5A6E64"/>
                </a:solidFill>
                <a:latin typeface="Segoe UI"/>
              </a:rPr>
              <a:t>Chi phí LLM thật, đo trên 1.039 ca</a:t>
            </a:r>
          </a:p>
        </p:txBody>
      </p:sp>
      <p:sp>
        <p:nvSpPr>
          <p:cNvPr id="23" name="Rounded Rectangle 22"/>
          <p:cNvSpPr/>
          <p:nvPr/>
        </p:nvSpPr>
        <p:spPr>
          <a:xfrm>
            <a:off x="612648" y="5218938"/>
            <a:ext cx="11064240" cy="777240"/>
          </a:xfrm>
          <a:prstGeom prst="roundRect">
            <a:avLst>
              <a:gd name="adj" fmla="val 29411"/>
            </a:avLst>
          </a:prstGeom>
          <a:solidFill>
            <a:srgbClr val="BD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66928" y="5166360"/>
            <a:ext cx="11064240" cy="777240"/>
          </a:xfrm>
          <a:prstGeom prst="roundRect">
            <a:avLst>
              <a:gd name="adj" fmla="val 29411"/>
            </a:avLst>
          </a:prstGeom>
          <a:solidFill>
            <a:srgbClr val="F8E4E2"/>
          </a:solidFill>
          <a:ln w="28575">
            <a:solidFill>
              <a:srgbClr val="BD5F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166360"/>
            <a:ext cx="10424160" cy="777240"/>
          </a:xfrm>
          <a:prstGeom prst="rect">
            <a:avLst/>
          </a:prstGeom>
          <a:noFill/>
        </p:spPr>
        <p:txBody>
          <a:bodyPr wrap="square" lIns="0" rIns="0" tIns="0" bIns="0" anchor="ctr">
            <a:spAutoFit/>
          </a:bodyPr>
          <a:lstStyle/>
          <a:p>
            <a:pPr algn="l"/>
            <a:r>
              <a:rPr sz="2000" b="0" i="0">
                <a:solidFill>
                  <a:srgbClr val="7A2F2A"/>
                </a:solidFill>
                <a:latin typeface="FC Baby Doll"/>
              </a:rPr>
              <a:t>Giới hạn: đúng chuyên khoa mới 63,1% (gõ không dấu: 45,8%)</a:t>
            </a:r>
          </a:p>
        </p:txBody>
      </p:sp>
      <p:cxnSp>
        <p:nvCxnSpPr>
          <p:cNvPr id="26" name="Connector 25"/>
          <p:cNvCxnSpPr/>
          <p:nvPr/>
        </p:nvCxnSpPr>
        <p:spPr>
          <a:xfrm>
            <a:off x="566928" y="6291072"/>
            <a:ext cx="11055096" cy="0"/>
          </a:xfrm>
          <a:prstGeom prst="line">
            <a:avLst/>
          </a:prstGeom>
          <a:ln w="22225">
            <a:solidFill>
              <a:srgbClr val="BD5F57"/>
            </a:solidFill>
            <a:prstDash val="dash"/>
          </a:ln>
        </p:spPr>
        <p:style>
          <a:lnRef idx="2">
            <a:schemeClr val="accent1"/>
          </a:lnRef>
          <a:fillRef idx="0">
            <a:schemeClr val="accent1"/>
          </a:fillRef>
          <a:effectRef idx="1">
            <a:schemeClr val="accent1"/>
          </a:effectRef>
          <a:fontRef idx="minor">
            <a:schemeClr val="tx1"/>
          </a:fontRef>
        </p:style>
      </p:cxnSp>
      <p:pic>
        <p:nvPicPr>
          <p:cNvPr id="27" name="Picture 26" descr="s2_Image5.png"/>
          <p:cNvPicPr>
            <a:picLocks noChangeAspect="1"/>
          </p:cNvPicPr>
          <p:nvPr/>
        </p:nvPicPr>
        <p:blipFill>
          <a:blip r:embed="rId2"/>
          <a:stretch>
            <a:fillRect/>
          </a:stretch>
        </p:blipFill>
        <p:spPr>
          <a:xfrm>
            <a:off x="566928" y="6364224"/>
            <a:ext cx="384048" cy="377172"/>
          </a:xfrm>
          <a:prstGeom prst="rect">
            <a:avLst/>
          </a:prstGeom>
        </p:spPr>
      </p:pic>
      <p:sp>
        <p:nvSpPr>
          <p:cNvPr id="28" name="TextBox 27"/>
          <p:cNvSpPr txBox="1"/>
          <p:nvPr/>
        </p:nvSpPr>
        <p:spPr>
          <a:xfrm>
            <a:off x="1060704" y="6400800"/>
            <a:ext cx="8961120" cy="274320"/>
          </a:xfrm>
          <a:prstGeom prst="rect">
            <a:avLst/>
          </a:prstGeom>
          <a:noFill/>
        </p:spPr>
        <p:txBody>
          <a:bodyPr wrap="square" lIns="0" rIns="0" tIns="0" bIns="0" anchor="ctr">
            <a:spAutoFit/>
          </a:bodyPr>
          <a:lstStyle/>
          <a:p>
            <a:pPr algn="l"/>
            <a:r>
              <a:rPr sz="1100" b="0" i="0">
                <a:solidFill>
                  <a:srgbClr val="5A6E64"/>
                </a:solidFill>
                <a:latin typeface="Segoe UI"/>
              </a:rPr>
              <a:t>VCare+ · Team P-124 · AI20K Build Phase</a:t>
            </a:r>
          </a:p>
        </p:txBody>
      </p:sp>
      <p:sp>
        <p:nvSpPr>
          <p:cNvPr id="29" name="TextBox 28"/>
          <p:cNvSpPr txBox="1"/>
          <p:nvPr/>
        </p:nvSpPr>
        <p:spPr>
          <a:xfrm>
            <a:off x="10607040" y="6400800"/>
            <a:ext cx="1014984" cy="274320"/>
          </a:xfrm>
          <a:prstGeom prst="rect">
            <a:avLst/>
          </a:prstGeom>
          <a:noFill/>
        </p:spPr>
        <p:txBody>
          <a:bodyPr wrap="square" lIns="0" rIns="0" tIns="0" bIns="0" anchor="ctr">
            <a:spAutoFit/>
          </a:bodyPr>
          <a:lstStyle/>
          <a:p>
            <a:pPr algn="r"/>
            <a:r>
              <a:rPr sz="1200" b="0" i="0">
                <a:solidFill>
                  <a:srgbClr val="5A6E64"/>
                </a:solidFill>
                <a:latin typeface="FC Baby Doll"/>
              </a:rPr>
              <a:t>08 / 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93C2D"/>
        </a:solidFill>
        <a:effectLst/>
      </p:bgPr>
    </p:bg>
    <p:spTree>
      <p:nvGrpSpPr>
        <p:cNvPr id="1" name=""/>
        <p:cNvGrpSpPr/>
        <p:nvPr/>
      </p:nvGrpSpPr>
      <p:grpSpPr/>
      <p:pic>
        <p:nvPicPr>
          <p:cNvPr id="2" name="Picture 1" descr="s1_Image2.png"/>
          <p:cNvPicPr>
            <a:picLocks noChangeAspect="1"/>
          </p:cNvPicPr>
          <p:nvPr/>
        </p:nvPicPr>
        <p:blipFill>
          <a:blip r:embed="rId2"/>
          <a:stretch>
            <a:fillRect/>
          </a:stretch>
        </p:blipFill>
        <p:spPr>
          <a:xfrm>
            <a:off x="10332720" y="320040"/>
            <a:ext cx="1371600" cy="1369106"/>
          </a:xfrm>
          <a:prstGeom prst="rect">
            <a:avLst/>
          </a:prstGeom>
        </p:spPr>
      </p:pic>
      <p:sp>
        <p:nvSpPr>
          <p:cNvPr id="3" name="Rounded Rectangle 2"/>
          <p:cNvSpPr/>
          <p:nvPr/>
        </p:nvSpPr>
        <p:spPr>
          <a:xfrm>
            <a:off x="566928" y="457200"/>
            <a:ext cx="2377440" cy="365760"/>
          </a:xfrm>
          <a:prstGeom prst="roundRect">
            <a:avLst>
              <a:gd name="adj" fmla="val 50000"/>
            </a:avLst>
          </a:prstGeom>
          <a:solidFill>
            <a:srgbClr val="193C2D"/>
          </a:solidFill>
          <a:ln w="28575">
            <a:solidFill>
              <a:srgbClr val="EDB2B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457200"/>
            <a:ext cx="2377440" cy="365760"/>
          </a:xfrm>
          <a:prstGeom prst="rect">
            <a:avLst/>
          </a:prstGeom>
          <a:noFill/>
        </p:spPr>
        <p:txBody>
          <a:bodyPr wrap="square" lIns="0" rIns="0" tIns="0" bIns="0" anchor="ctr">
            <a:spAutoFit/>
          </a:bodyPr>
          <a:lstStyle/>
          <a:p>
            <a:pPr algn="ctr"/>
            <a:r>
              <a:rPr sz="1400" b="0" i="0">
                <a:solidFill>
                  <a:srgbClr val="EDB2B1"/>
                </a:solidFill>
                <a:latin typeface="FC Baby Doll"/>
              </a:rPr>
              <a:t>BƯỚC TIẾP THEO</a:t>
            </a:r>
          </a:p>
        </p:txBody>
      </p:sp>
      <p:sp>
        <p:nvSpPr>
          <p:cNvPr id="5" name="TextBox 4"/>
          <p:cNvSpPr txBox="1"/>
          <p:nvPr/>
        </p:nvSpPr>
        <p:spPr>
          <a:xfrm>
            <a:off x="566928" y="914400"/>
            <a:ext cx="8229600" cy="731520"/>
          </a:xfrm>
          <a:prstGeom prst="rect">
            <a:avLst/>
          </a:prstGeom>
          <a:noFill/>
        </p:spPr>
        <p:txBody>
          <a:bodyPr wrap="square" lIns="0" rIns="0" tIns="0" bIns="0" anchor="t">
            <a:spAutoFit/>
          </a:bodyPr>
          <a:lstStyle/>
          <a:p>
            <a:pPr algn="l"/>
            <a:r>
              <a:rPr sz="3800" b="0" i="0">
                <a:solidFill>
                  <a:srgbClr val="F6FCF9"/>
                </a:solidFill>
                <a:latin typeface="FC Baby Doll"/>
              </a:rPr>
              <a:t>Điều chúng tôi cần để đi tiếp</a:t>
            </a:r>
          </a:p>
        </p:txBody>
      </p:sp>
      <p:sp>
        <p:nvSpPr>
          <p:cNvPr id="6" name="Rounded Rectangle 5"/>
          <p:cNvSpPr/>
          <p:nvPr/>
        </p:nvSpPr>
        <p:spPr>
          <a:xfrm>
            <a:off x="621792" y="2074773"/>
            <a:ext cx="6583680" cy="1005840"/>
          </a:xfrm>
          <a:prstGeom prst="roundRect">
            <a:avLst>
              <a:gd name="adj" fmla="val 16363"/>
            </a:avLst>
          </a:prstGeom>
          <a:solidFill>
            <a:srgbClr val="0E2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2011680"/>
            <a:ext cx="6583680" cy="1005840"/>
          </a:xfrm>
          <a:prstGeom prst="roundRect">
            <a:avLst>
              <a:gd name="adj" fmla="val 16363"/>
            </a:avLst>
          </a:prstGeom>
          <a:solidFill>
            <a:srgbClr val="F6FCF9"/>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103120"/>
            <a:ext cx="548640" cy="822960"/>
          </a:xfrm>
          <a:prstGeom prst="rect">
            <a:avLst/>
          </a:prstGeom>
          <a:noFill/>
        </p:spPr>
        <p:txBody>
          <a:bodyPr wrap="square" lIns="0" rIns="0" tIns="0" bIns="0" anchor="ctr">
            <a:spAutoFit/>
          </a:bodyPr>
          <a:lstStyle/>
          <a:p>
            <a:pPr algn="l"/>
            <a:r>
              <a:rPr sz="3200" b="0" i="0">
                <a:solidFill>
                  <a:srgbClr val="BD5F57"/>
                </a:solidFill>
                <a:latin typeface="FC Baby Doll"/>
              </a:rPr>
              <a:t>1</a:t>
            </a:r>
          </a:p>
        </p:txBody>
      </p:sp>
      <p:sp>
        <p:nvSpPr>
          <p:cNvPr id="9" name="TextBox 8"/>
          <p:cNvSpPr txBox="1"/>
          <p:nvPr/>
        </p:nvSpPr>
        <p:spPr>
          <a:xfrm>
            <a:off x="1463040" y="2194560"/>
            <a:ext cx="5486400" cy="365760"/>
          </a:xfrm>
          <a:prstGeom prst="rect">
            <a:avLst/>
          </a:prstGeom>
          <a:noFill/>
        </p:spPr>
        <p:txBody>
          <a:bodyPr wrap="square" lIns="0" rIns="0" tIns="0" bIns="0" anchor="t">
            <a:spAutoFit/>
          </a:bodyPr>
          <a:lstStyle/>
          <a:p>
            <a:pPr algn="l"/>
            <a:r>
              <a:rPr sz="1700" b="0" i="0">
                <a:solidFill>
                  <a:srgbClr val="1F2D26"/>
                </a:solidFill>
                <a:latin typeface="FC Baby Doll"/>
              </a:rPr>
              <a:t>Nhãn chuyên gia &amp; đánh giá lâm sàng</a:t>
            </a:r>
          </a:p>
        </p:txBody>
      </p:sp>
      <p:sp>
        <p:nvSpPr>
          <p:cNvPr id="10" name="TextBox 9"/>
          <p:cNvSpPr txBox="1"/>
          <p:nvPr/>
        </p:nvSpPr>
        <p:spPr>
          <a:xfrm>
            <a:off x="1463040" y="2578608"/>
            <a:ext cx="5486400" cy="320040"/>
          </a:xfrm>
          <a:prstGeom prst="rect">
            <a:avLst/>
          </a:prstGeom>
          <a:noFill/>
        </p:spPr>
        <p:txBody>
          <a:bodyPr wrap="square" lIns="0" rIns="0" tIns="0" bIns="0" anchor="t">
            <a:spAutoFit/>
          </a:bodyPr>
          <a:lstStyle/>
          <a:p>
            <a:pPr algn="l"/>
            <a:r>
              <a:rPr sz="1300" b="0" i="0">
                <a:solidFill>
                  <a:srgbClr val="5A6E64"/>
                </a:solidFill>
                <a:latin typeface="Segoe UI"/>
              </a:rPr>
              <a:t>Cùng bác sĩ mở rộng bộ test lên ≥ 300 ca.</a:t>
            </a:r>
          </a:p>
        </p:txBody>
      </p:sp>
      <p:sp>
        <p:nvSpPr>
          <p:cNvPr id="11" name="Rounded Rectangle 10"/>
          <p:cNvSpPr/>
          <p:nvPr/>
        </p:nvSpPr>
        <p:spPr>
          <a:xfrm>
            <a:off x="621792" y="3309213"/>
            <a:ext cx="6583680" cy="1005840"/>
          </a:xfrm>
          <a:prstGeom prst="roundRect">
            <a:avLst>
              <a:gd name="adj" fmla="val 16363"/>
            </a:avLst>
          </a:prstGeom>
          <a:solidFill>
            <a:srgbClr val="0E2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66928" y="3246120"/>
            <a:ext cx="6583680" cy="1005840"/>
          </a:xfrm>
          <a:prstGeom prst="roundRect">
            <a:avLst>
              <a:gd name="adj" fmla="val 16363"/>
            </a:avLst>
          </a:prstGeom>
          <a:solidFill>
            <a:srgbClr val="F6FCF9"/>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3337560"/>
            <a:ext cx="548640" cy="822960"/>
          </a:xfrm>
          <a:prstGeom prst="rect">
            <a:avLst/>
          </a:prstGeom>
          <a:noFill/>
        </p:spPr>
        <p:txBody>
          <a:bodyPr wrap="square" lIns="0" rIns="0" tIns="0" bIns="0" anchor="ctr">
            <a:spAutoFit/>
          </a:bodyPr>
          <a:lstStyle/>
          <a:p>
            <a:pPr algn="l"/>
            <a:r>
              <a:rPr sz="3200" b="0" i="0">
                <a:solidFill>
                  <a:srgbClr val="BD5F57"/>
                </a:solidFill>
                <a:latin typeface="FC Baby Doll"/>
              </a:rPr>
              <a:t>2</a:t>
            </a:r>
          </a:p>
        </p:txBody>
      </p:sp>
      <p:sp>
        <p:nvSpPr>
          <p:cNvPr id="14" name="TextBox 13"/>
          <p:cNvSpPr txBox="1"/>
          <p:nvPr/>
        </p:nvSpPr>
        <p:spPr>
          <a:xfrm>
            <a:off x="1463040" y="3429000"/>
            <a:ext cx="5486400" cy="365760"/>
          </a:xfrm>
          <a:prstGeom prst="rect">
            <a:avLst/>
          </a:prstGeom>
          <a:noFill/>
        </p:spPr>
        <p:txBody>
          <a:bodyPr wrap="square" lIns="0" rIns="0" tIns="0" bIns="0" anchor="t">
            <a:spAutoFit/>
          </a:bodyPr>
          <a:lstStyle/>
          <a:p>
            <a:pPr algn="l"/>
            <a:r>
              <a:rPr sz="1700" b="0" i="0">
                <a:solidFill>
                  <a:srgbClr val="1F2D26"/>
                </a:solidFill>
                <a:latin typeface="FC Baby Doll"/>
              </a:rPr>
              <a:t>Dữ liệu lịch thật</a:t>
            </a:r>
          </a:p>
        </p:txBody>
      </p:sp>
      <p:sp>
        <p:nvSpPr>
          <p:cNvPr id="15" name="TextBox 14"/>
          <p:cNvSpPr txBox="1"/>
          <p:nvPr/>
        </p:nvSpPr>
        <p:spPr>
          <a:xfrm>
            <a:off x="1463040" y="3813048"/>
            <a:ext cx="5486400" cy="320040"/>
          </a:xfrm>
          <a:prstGeom prst="rect">
            <a:avLst/>
          </a:prstGeom>
          <a:noFill/>
        </p:spPr>
        <p:txBody>
          <a:bodyPr wrap="square" lIns="0" rIns="0" tIns="0" bIns="0" anchor="t">
            <a:spAutoFit/>
          </a:bodyPr>
          <a:lstStyle/>
          <a:p>
            <a:pPr algn="l"/>
            <a:r>
              <a:rPr sz="1300" b="0" i="0">
                <a:solidFill>
                  <a:srgbClr val="5A6E64"/>
                </a:solidFill>
                <a:latin typeface="Segoe UI"/>
              </a:rPr>
              <a:t>Lịch bác sĩ thật của một cơ sở để thử nghiệm.</a:t>
            </a:r>
          </a:p>
        </p:txBody>
      </p:sp>
      <p:sp>
        <p:nvSpPr>
          <p:cNvPr id="16" name="TextBox 15"/>
          <p:cNvSpPr txBox="1"/>
          <p:nvPr/>
        </p:nvSpPr>
        <p:spPr>
          <a:xfrm>
            <a:off x="566928" y="4892040"/>
            <a:ext cx="4572000" cy="914400"/>
          </a:xfrm>
          <a:prstGeom prst="rect">
            <a:avLst/>
          </a:prstGeom>
          <a:noFill/>
        </p:spPr>
        <p:txBody>
          <a:bodyPr wrap="square" lIns="0" rIns="0" tIns="0" bIns="0" anchor="t">
            <a:spAutoFit/>
          </a:bodyPr>
          <a:lstStyle/>
          <a:p>
            <a:pPr algn="l"/>
            <a:r>
              <a:rPr sz="5400" b="0" i="0">
                <a:solidFill>
                  <a:srgbClr val="F6FCF9"/>
                </a:solidFill>
                <a:latin typeface="FC Baby Doll"/>
              </a:rPr>
              <a:t>Cảm ơn!</a:t>
            </a:r>
          </a:p>
        </p:txBody>
      </p:sp>
      <p:sp>
        <p:nvSpPr>
          <p:cNvPr id="17" name="Rounded Rectangle 16"/>
          <p:cNvSpPr/>
          <p:nvPr/>
        </p:nvSpPr>
        <p:spPr>
          <a:xfrm>
            <a:off x="7936992" y="1958644"/>
            <a:ext cx="3749039" cy="3383280"/>
          </a:xfrm>
          <a:prstGeom prst="roundRect">
            <a:avLst>
              <a:gd name="adj" fmla="val 5945"/>
            </a:avLst>
          </a:prstGeom>
          <a:solidFill>
            <a:srgbClr val="0E2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863840" y="1874519"/>
            <a:ext cx="3749039" cy="3383280"/>
          </a:xfrm>
          <a:prstGeom prst="roundRect">
            <a:avLst>
              <a:gd name="adj" fmla="val 5945"/>
            </a:avLst>
          </a:prstGeom>
          <a:solidFill>
            <a:srgbClr val="F6FCF9"/>
          </a:solidFill>
          <a:ln w="28575">
            <a:solidFill>
              <a:srgbClr val="1F2D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qr.png"/>
          <p:cNvPicPr>
            <a:picLocks noChangeAspect="1"/>
          </p:cNvPicPr>
          <p:nvPr/>
        </p:nvPicPr>
        <p:blipFill>
          <a:blip r:embed="rId3"/>
          <a:stretch>
            <a:fillRect/>
          </a:stretch>
        </p:blipFill>
        <p:spPr>
          <a:xfrm>
            <a:off x="8458200" y="2057400"/>
            <a:ext cx="2560320" cy="2560320"/>
          </a:xfrm>
          <a:prstGeom prst="rect">
            <a:avLst/>
          </a:prstGeom>
        </p:spPr>
      </p:pic>
      <p:sp>
        <p:nvSpPr>
          <p:cNvPr id="20" name="TextBox 19"/>
          <p:cNvSpPr txBox="1"/>
          <p:nvPr/>
        </p:nvSpPr>
        <p:spPr>
          <a:xfrm>
            <a:off x="7863840" y="4709160"/>
            <a:ext cx="3749039" cy="365760"/>
          </a:xfrm>
          <a:prstGeom prst="rect">
            <a:avLst/>
          </a:prstGeom>
          <a:noFill/>
        </p:spPr>
        <p:txBody>
          <a:bodyPr wrap="square" lIns="0" rIns="0" tIns="0" bIns="0" anchor="t">
            <a:spAutoFit/>
          </a:bodyPr>
          <a:lstStyle/>
          <a:p>
            <a:pPr algn="ctr"/>
            <a:r>
              <a:rPr sz="1800" b="0" i="0">
                <a:solidFill>
                  <a:srgbClr val="285C45"/>
                </a:solidFill>
                <a:latin typeface="FC Baby Doll"/>
              </a:rPr>
              <a:t>Quét để dùng thử</a:t>
            </a:r>
          </a:p>
        </p:txBody>
      </p:sp>
      <p:sp>
        <p:nvSpPr>
          <p:cNvPr id="21" name="TextBox 20">
            <a:hlinkClick r:id="rId4"/>
          </p:cNvPr>
          <p:cNvSpPr txBox="1"/>
          <p:nvPr/>
        </p:nvSpPr>
        <p:spPr>
          <a:xfrm>
            <a:off x="5486400" y="5532120"/>
            <a:ext cx="6126480" cy="274320"/>
          </a:xfrm>
          <a:prstGeom prst="rect">
            <a:avLst/>
          </a:prstGeom>
          <a:noFill/>
        </p:spPr>
        <p:txBody>
          <a:bodyPr wrap="square" lIns="0" rIns="0" tIns="0" bIns="0" anchor="t">
            <a:spAutoFit/>
          </a:bodyPr>
          <a:lstStyle/>
          <a:p>
            <a:pPr algn="r"/>
            <a:r>
              <a:rPr sz="1300" b="0" i="0">
                <a:solidFill>
                  <a:srgbClr val="D9EFE2"/>
                </a:solidFill>
                <a:latin typeface="Segoe UI"/>
              </a:rPr>
              <a:t>c4-app-t124.vercel.app</a:t>
            </a:r>
          </a:p>
        </p:txBody>
      </p:sp>
      <p:sp>
        <p:nvSpPr>
          <p:cNvPr id="22" name="TextBox 21">
            <a:hlinkClick r:id="rId5"/>
          </p:cNvPr>
          <p:cNvSpPr txBox="1"/>
          <p:nvPr/>
        </p:nvSpPr>
        <p:spPr>
          <a:xfrm>
            <a:off x="5486400" y="5852160"/>
            <a:ext cx="6126480" cy="274320"/>
          </a:xfrm>
          <a:prstGeom prst="rect">
            <a:avLst/>
          </a:prstGeom>
          <a:noFill/>
        </p:spPr>
        <p:txBody>
          <a:bodyPr wrap="square" lIns="0" rIns="0" tIns="0" bIns="0" anchor="t">
            <a:spAutoFit/>
          </a:bodyPr>
          <a:lstStyle/>
          <a:p>
            <a:pPr algn="r"/>
            <a:r>
              <a:rPr sz="1300" b="0" i="0">
                <a:solidFill>
                  <a:srgbClr val="D9EFE2"/>
                </a:solidFill>
                <a:latin typeface="Segoe UI"/>
              </a:rPr>
              <a:t>github.com/AI20K-Build-Phase-Cohort-4/P-124</a:t>
            </a:r>
          </a:p>
        </p:txBody>
      </p:sp>
      <p:sp>
        <p:nvSpPr>
          <p:cNvPr id="23" name="TextBox 22"/>
          <p:cNvSpPr txBox="1"/>
          <p:nvPr/>
        </p:nvSpPr>
        <p:spPr>
          <a:xfrm>
            <a:off x="566928" y="6400800"/>
            <a:ext cx="7315200" cy="274320"/>
          </a:xfrm>
          <a:prstGeom prst="rect">
            <a:avLst/>
          </a:prstGeom>
          <a:noFill/>
        </p:spPr>
        <p:txBody>
          <a:bodyPr wrap="square" lIns="0" rIns="0" tIns="0" bIns="0" anchor="t">
            <a:spAutoFit/>
          </a:bodyPr>
          <a:lstStyle/>
          <a:p>
            <a:pPr algn="l"/>
            <a:r>
              <a:rPr sz="1000" b="0" i="0">
                <a:solidFill>
                  <a:srgbClr val="9DBBA9"/>
                </a:solidFill>
                <a:latin typeface="Segoe UI"/>
              </a:rPr>
              <a:t>Prototype học thuật dùng dữ liệu công khai của Vinmec, không phải sản phẩm chính thức của Vinmec.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